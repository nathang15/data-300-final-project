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56" r:id="rId2"/>
  </p:sldIdLst>
  <p:sldSz cx="43891200" cy="32918400"/>
  <p:notesSz cx="9239250" cy="11982450"/>
  <p:embeddedFontLst>
    <p:embeddedFont>
      <p:font typeface="Quattrocento" panose="02020502030000000404" pitchFamily="18" charset="0"/>
      <p:regular r:id="rId5"/>
      <p:bold r:id="rId6"/>
    </p:embeddedFont>
  </p:embeddedFontLst>
  <p:custDataLst>
    <p:tags r:id="rId7"/>
  </p:custDataLst>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extLst>
    <p:ext uri="{EFAFB233-063F-42B5-8137-9DF3F51BA10A}">
      <p15:sldGuideLst xmlns:p15="http://schemas.microsoft.com/office/powerpoint/2012/main">
        <p15:guide id="1" orient="horz" pos="11088">
          <p15:clr>
            <a:srgbClr val="A4A3A4"/>
          </p15:clr>
        </p15:guide>
        <p15:guide id="2" pos="13440">
          <p15:clr>
            <a:srgbClr val="A4A3A4"/>
          </p15:clr>
        </p15:guide>
      </p15:sldGuideLst>
    </p:ext>
    <p:ext uri="{2D200454-40CA-4A62-9FC3-DE9A4176ACB9}">
      <p15:notesGuideLst xmlns:p15="http://schemas.microsoft.com/office/powerpoint/2012/main">
        <p15:guide id="1" orient="horz" pos="3774">
          <p15:clr>
            <a:srgbClr val="A4A3A4"/>
          </p15:clr>
        </p15:guide>
        <p15:guide id="2" pos="29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3654" autoAdjust="0"/>
  </p:normalViewPr>
  <p:slideViewPr>
    <p:cSldViewPr>
      <p:cViewPr>
        <p:scale>
          <a:sx n="25" d="100"/>
          <a:sy n="25" d="100"/>
        </p:scale>
        <p:origin x="1890" y="18"/>
      </p:cViewPr>
      <p:guideLst>
        <p:guide orient="horz" pos="11088"/>
        <p:guide pos="134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3984" y="72"/>
      </p:cViewPr>
      <p:guideLst>
        <p:guide orient="horz" pos="3774"/>
        <p:guide pos="29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ableStyles" Target="tableStyles.xml"/><Relationship Id="rId5" Type="http://schemas.openxmlformats.org/officeDocument/2006/relationships/font" Target="fonts/font1.fntdata"/><Relationship Id="rId10" Type="http://schemas.openxmlformats.org/officeDocument/2006/relationships/theme" Target="theme/theme1.xml"/><Relationship Id="rId4" Type="http://schemas.openxmlformats.org/officeDocument/2006/relationships/handoutMaster" Target="handoutMasters/handout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defTabSz="1149350">
              <a:defRPr sz="1500"/>
            </a:lvl1pPr>
          </a:lstStyle>
          <a:p>
            <a:endParaRPr lang="en-US" altLang="zh-CN"/>
          </a:p>
        </p:txBody>
      </p:sp>
      <p:sp>
        <p:nvSpPr>
          <p:cNvPr id="6147" name="Rectangle 3"/>
          <p:cNvSpPr>
            <a:spLocks noGrp="1" noChangeArrowheads="1"/>
          </p:cNvSpPr>
          <p:nvPr>
            <p:ph type="dt" sz="quarter" idx="1"/>
          </p:nvPr>
        </p:nvSpPr>
        <p:spPr bwMode="auto">
          <a:xfrm>
            <a:off x="5235575"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algn="r" defTabSz="1149350">
              <a:defRPr sz="1500"/>
            </a:lvl1pPr>
          </a:lstStyle>
          <a:p>
            <a:endParaRPr lang="en-US" altLang="zh-CN"/>
          </a:p>
        </p:txBody>
      </p:sp>
      <p:sp>
        <p:nvSpPr>
          <p:cNvPr id="6148" name="Rectangle 4"/>
          <p:cNvSpPr>
            <a:spLocks noGrp="1" noChangeArrowheads="1"/>
          </p:cNvSpPr>
          <p:nvPr>
            <p:ph type="ftr" sz="quarter" idx="2"/>
          </p:nvPr>
        </p:nvSpPr>
        <p:spPr bwMode="auto">
          <a:xfrm>
            <a:off x="0"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defTabSz="1149350">
              <a:defRPr sz="1500"/>
            </a:lvl1pPr>
          </a:lstStyle>
          <a:p>
            <a:endParaRPr lang="en-US" altLang="zh-CN"/>
          </a:p>
        </p:txBody>
      </p:sp>
      <p:sp>
        <p:nvSpPr>
          <p:cNvPr id="6149" name="Rectangle 5"/>
          <p:cNvSpPr>
            <a:spLocks noGrp="1" noChangeArrowheads="1"/>
          </p:cNvSpPr>
          <p:nvPr>
            <p:ph type="sldNum" sz="quarter" idx="3"/>
          </p:nvPr>
        </p:nvSpPr>
        <p:spPr bwMode="auto">
          <a:xfrm>
            <a:off x="5235575"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algn="r" defTabSz="1149350">
              <a:defRPr sz="1500"/>
            </a:lvl1pPr>
          </a:lstStyle>
          <a:p>
            <a:fld id="{56A6134A-9986-4884-ADAB-C57241D32564}" type="slidenum">
              <a:rPr lang="zh-CN" altLang="en-US"/>
              <a:t>‹#›</a:t>
            </a:fld>
            <a:endParaRPr lang="en-US" altLang="zh-CN"/>
          </a:p>
        </p:txBody>
      </p:sp>
    </p:spTree>
    <p:extLst>
      <p:ext uri="{BB962C8B-B14F-4D97-AF65-F5344CB8AC3E}">
        <p14:creationId xmlns:p14="http://schemas.microsoft.com/office/powerpoint/2010/main" val="934862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defTabSz="1149350">
              <a:defRPr sz="1500"/>
            </a:lvl1pPr>
          </a:lstStyle>
          <a:p>
            <a:endParaRPr lang="en-US" altLang="zh-CN"/>
          </a:p>
        </p:txBody>
      </p:sp>
      <p:sp>
        <p:nvSpPr>
          <p:cNvPr id="4099" name="Rectangle 3"/>
          <p:cNvSpPr>
            <a:spLocks noGrp="1" noChangeArrowheads="1"/>
          </p:cNvSpPr>
          <p:nvPr>
            <p:ph type="dt" idx="1"/>
          </p:nvPr>
        </p:nvSpPr>
        <p:spPr bwMode="auto">
          <a:xfrm>
            <a:off x="5241925"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algn="r" defTabSz="1149350">
              <a:defRPr sz="1500"/>
            </a:lvl1pPr>
          </a:lstStyle>
          <a:p>
            <a:endParaRPr lang="en-US" altLang="zh-CN"/>
          </a:p>
        </p:txBody>
      </p:sp>
      <p:sp>
        <p:nvSpPr>
          <p:cNvPr id="2052" name="Rectangle 4"/>
          <p:cNvSpPr>
            <a:spLocks noGrp="1" noRot="1" noChangeAspect="1" noChangeArrowheads="1" noTextEdit="1"/>
          </p:cNvSpPr>
          <p:nvPr>
            <p:ph type="sldImg" idx="2"/>
          </p:nvPr>
        </p:nvSpPr>
        <p:spPr bwMode="auto">
          <a:xfrm>
            <a:off x="1582738" y="889000"/>
            <a:ext cx="6059487" cy="454501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257300" y="5732463"/>
            <a:ext cx="6708775" cy="5335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102" name="Rectangle 6"/>
          <p:cNvSpPr>
            <a:spLocks noGrp="1" noChangeArrowheads="1"/>
          </p:cNvSpPr>
          <p:nvPr>
            <p:ph type="ftr" sz="quarter" idx="4"/>
          </p:nvPr>
        </p:nvSpPr>
        <p:spPr bwMode="auto">
          <a:xfrm>
            <a:off x="0"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defTabSz="1149350">
              <a:defRPr sz="1500"/>
            </a:lvl1pPr>
          </a:lstStyle>
          <a:p>
            <a:endParaRPr lang="en-US" altLang="zh-CN"/>
          </a:p>
        </p:txBody>
      </p:sp>
      <p:sp>
        <p:nvSpPr>
          <p:cNvPr id="4103" name="Rectangle 7"/>
          <p:cNvSpPr>
            <a:spLocks noGrp="1" noChangeArrowheads="1"/>
          </p:cNvSpPr>
          <p:nvPr>
            <p:ph type="sldNum" sz="quarter" idx="5"/>
          </p:nvPr>
        </p:nvSpPr>
        <p:spPr bwMode="auto">
          <a:xfrm>
            <a:off x="5241925"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algn="r" defTabSz="1149350">
              <a:defRPr sz="1500"/>
            </a:lvl1pPr>
          </a:lstStyle>
          <a:p>
            <a:fld id="{23124DF2-DDA8-402F-81DD-AC1D1E5694AB}" type="slidenum">
              <a:rPr lang="zh-CN" altLang="en-US"/>
              <a:t>‹#›</a:t>
            </a:fld>
            <a:endParaRPr lang="en-US" altLang="zh-CN"/>
          </a:p>
        </p:txBody>
      </p:sp>
    </p:spTree>
    <p:extLst>
      <p:ext uri="{BB962C8B-B14F-4D97-AF65-F5344CB8AC3E}">
        <p14:creationId xmlns:p14="http://schemas.microsoft.com/office/powerpoint/2010/main" val="19040194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defPPr>
              <a:defRPr kern="1200"/>
            </a:defPPr>
            <a:lvl1pPr defTabSz="1149350">
              <a:defRPr sz="2400">
                <a:solidFill>
                  <a:schemeClr val="tx1"/>
                </a:solidFill>
                <a:latin typeface="Times New Roman" pitchFamily="18" charset="0"/>
              </a:defRPr>
            </a:lvl1pPr>
            <a:lvl2pPr marL="742950" indent="-285750" defTabSz="1149350">
              <a:defRPr sz="2400">
                <a:solidFill>
                  <a:schemeClr val="tx1"/>
                </a:solidFill>
                <a:latin typeface="Times New Roman" pitchFamily="18" charset="0"/>
              </a:defRPr>
            </a:lvl2pPr>
            <a:lvl3pPr marL="1143000" indent="-228600" defTabSz="1149350">
              <a:defRPr sz="2400">
                <a:solidFill>
                  <a:schemeClr val="tx1"/>
                </a:solidFill>
                <a:latin typeface="Times New Roman" pitchFamily="18" charset="0"/>
              </a:defRPr>
            </a:lvl3pPr>
            <a:lvl4pPr marL="1600200" indent="-228600" defTabSz="1149350">
              <a:defRPr sz="2400">
                <a:solidFill>
                  <a:schemeClr val="tx1"/>
                </a:solidFill>
                <a:latin typeface="Times New Roman" pitchFamily="18" charset="0"/>
              </a:defRPr>
            </a:lvl4pPr>
            <a:lvl5pPr marL="2057400" indent="-228600" defTabSz="1149350">
              <a:defRPr sz="2400">
                <a:solidFill>
                  <a:schemeClr val="tx1"/>
                </a:solidFill>
                <a:latin typeface="Times New Roman" pitchFamily="18" charset="0"/>
              </a:defRPr>
            </a:lvl5pPr>
            <a:lvl6pPr marL="2514600" indent="-228600" defTabSz="1149350" eaLnBrk="0" fontAlgn="base" hangingPunct="0">
              <a:spcBef>
                <a:spcPct val="0"/>
              </a:spcBef>
              <a:spcAft>
                <a:spcPct val="0"/>
              </a:spcAft>
              <a:defRPr sz="2400">
                <a:solidFill>
                  <a:schemeClr val="tx1"/>
                </a:solidFill>
                <a:latin typeface="Times New Roman" pitchFamily="18" charset="0"/>
              </a:defRPr>
            </a:lvl6pPr>
            <a:lvl7pPr marL="2971800" indent="-228600" defTabSz="1149350" eaLnBrk="0" fontAlgn="base" hangingPunct="0">
              <a:spcBef>
                <a:spcPct val="0"/>
              </a:spcBef>
              <a:spcAft>
                <a:spcPct val="0"/>
              </a:spcAft>
              <a:defRPr sz="2400">
                <a:solidFill>
                  <a:schemeClr val="tx1"/>
                </a:solidFill>
                <a:latin typeface="Times New Roman" pitchFamily="18" charset="0"/>
              </a:defRPr>
            </a:lvl7pPr>
            <a:lvl8pPr marL="3429000" indent="-228600" defTabSz="1149350" eaLnBrk="0" fontAlgn="base" hangingPunct="0">
              <a:spcBef>
                <a:spcPct val="0"/>
              </a:spcBef>
              <a:spcAft>
                <a:spcPct val="0"/>
              </a:spcAft>
              <a:defRPr sz="2400">
                <a:solidFill>
                  <a:schemeClr val="tx1"/>
                </a:solidFill>
                <a:latin typeface="Times New Roman" pitchFamily="18" charset="0"/>
              </a:defRPr>
            </a:lvl8pPr>
            <a:lvl9pPr marL="3886200" indent="-228600" defTabSz="1149350" eaLnBrk="0" fontAlgn="base" hangingPunct="0">
              <a:spcBef>
                <a:spcPct val="0"/>
              </a:spcBef>
              <a:spcAft>
                <a:spcPct val="0"/>
              </a:spcAft>
              <a:defRPr sz="2400">
                <a:solidFill>
                  <a:schemeClr val="tx1"/>
                </a:solidFill>
                <a:latin typeface="Times New Roman" pitchFamily="18" charset="0"/>
              </a:defRPr>
            </a:lvl9pPr>
          </a:lstStyle>
          <a:p>
            <a:fld id="{D5580D61-8B82-42C3-9A37-58134866DD67}" type="slidenum">
              <a:rPr lang="zh-CN" altLang="en-US" sz="1500"/>
              <a:t>1</a:t>
            </a:fld>
            <a:endParaRPr lang="en-US" altLang="zh-CN" sz="1500"/>
          </a:p>
        </p:txBody>
      </p:sp>
      <p:sp>
        <p:nvSpPr>
          <p:cNvPr id="3075" name="Rectangle 2"/>
          <p:cNvSpPr>
            <a:spLocks noGrp="1" noRot="1" noChangeAspect="1" noChangeArrowheads="1" noTextEdit="1"/>
          </p:cNvSpPr>
          <p:nvPr>
            <p:ph type="sldImg"/>
          </p:nvPr>
        </p:nvSpPr>
        <p:spPr/>
      </p:sp>
      <p:sp>
        <p:nvSpPr>
          <p:cNvPr id="3076" name="Rectangle 3"/>
          <p:cNvSpPr>
            <a:spLocks noGrp="1" noChangeArrowheads="1"/>
          </p:cNvSpPr>
          <p:nvPr>
            <p:ph type="body" idx="1"/>
          </p:nvPr>
        </p:nvSpPr>
        <p:spPr>
          <a:noFill/>
        </p:spPr>
        <p:txBody>
          <a:bodyPr/>
          <a:lstStyle>
            <a:defPPr>
              <a:defRPr kern="1200"/>
            </a:defP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3" y="10226675"/>
            <a:ext cx="37306957" cy="7054850"/>
          </a:xfrm>
          <a:prstGeom prst="rect">
            <a:avLst/>
          </a:prstGeo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18653125"/>
            <a:ext cx="30722711" cy="8413750"/>
          </a:xfrm>
          <a:prstGeom prst="rect">
            <a:avLst/>
          </a:prstGeo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1166012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idx="1"/>
          </p:nvPr>
        </p:nvSpPr>
        <p:spPr>
          <a:xfrm>
            <a:off x="2194279" y="7680325"/>
            <a:ext cx="39502643" cy="21724938"/>
          </a:xfrm>
          <a:prstGeom prst="rect">
            <a:avLst/>
          </a:prstGeo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430835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6957" cy="6537325"/>
          </a:xfrm>
          <a:prstGeom prst="rect">
            <a:avLst/>
          </a:prstGeo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13952538"/>
            <a:ext cx="37306957" cy="7200900"/>
          </a:xfrm>
          <a:prstGeom prst="rect">
            <a:avLst/>
          </a:prstGeo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224496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4279" y="7680325"/>
            <a:ext cx="19683588" cy="21724938"/>
          </a:xfrm>
          <a:prstGeom prst="rect">
            <a:avLst/>
          </a:prstGeo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7680325"/>
            <a:ext cx="19683589" cy="21724938"/>
          </a:xfrm>
          <a:prstGeom prst="rect">
            <a:avLst/>
          </a:prstGeo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9732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7369176"/>
            <a:ext cx="19392900" cy="3070225"/>
          </a:xfrm>
          <a:prstGeom prst="rect">
            <a:avLst/>
          </a:prstGeo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0439401"/>
            <a:ext cx="19392900" cy="18965862"/>
          </a:xfrm>
          <a:prstGeom prst="rect">
            <a:avLst/>
          </a:prstGeo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7369176"/>
            <a:ext cx="19401368" cy="3070225"/>
          </a:xfrm>
          <a:prstGeom prst="rect">
            <a:avLst/>
          </a:prstGeo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0439401"/>
            <a:ext cx="19401368" cy="18965862"/>
          </a:xfrm>
          <a:prstGeom prst="rect">
            <a:avLst/>
          </a:prstGeo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059614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Tree>
    <p:extLst>
      <p:ext uri="{BB962C8B-B14F-4D97-AF65-F5344CB8AC3E}">
        <p14:creationId xmlns:p14="http://schemas.microsoft.com/office/powerpoint/2010/main" val="22457045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9810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1311275"/>
            <a:ext cx="14439900" cy="5576888"/>
          </a:xfrm>
          <a:prstGeom prst="rect">
            <a:avLst/>
          </a:prstGeo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1311275"/>
            <a:ext cx="24536400" cy="28093988"/>
          </a:xfrm>
          <a:prstGeom prst="rect">
            <a:avLst/>
          </a:prstGeo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6888163"/>
            <a:ext cx="14439900" cy="22517100"/>
          </a:xfrm>
          <a:prstGeom prst="rect">
            <a:avLst/>
          </a:prstGeo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1175467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5" y="23042564"/>
            <a:ext cx="26334157" cy="2720975"/>
          </a:xfrm>
          <a:prstGeom prst="rect">
            <a:avLst/>
          </a:prstGeo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5" y="2941639"/>
            <a:ext cx="26334157" cy="19750088"/>
          </a:xfrm>
          <a:prstGeom prst="rect">
            <a:avLst/>
          </a:prstGeo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3545" y="25763539"/>
            <a:ext cx="26334157" cy="3862387"/>
          </a:xfrm>
          <a:prstGeom prst="rect">
            <a:avLst/>
          </a:prstGeo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739591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9" y="7680325"/>
            <a:ext cx="39502643" cy="21724938"/>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38220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968" y="1317625"/>
            <a:ext cx="9874956" cy="28087638"/>
          </a:xfrm>
          <a:prstGeom prst="rect">
            <a:avLst/>
          </a:prstGeo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8" y="1317625"/>
            <a:ext cx="29492222" cy="28087638"/>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51270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New picture"/>
          <p:cNvPicPr/>
          <p:nvPr/>
        </p:nvPicPr>
        <p:blipFill>
          <a:blip r:embed="rId13"/>
          <a:stretch>
            <a:fillRect/>
          </a:stretch>
        </p:blipFill>
        <p:spPr>
          <a:xfrm rot="16200000">
            <a:off x="-11074400" y="16459200"/>
            <a:ext cx="14274800" cy="3937000"/>
          </a:xfrm>
          <a:prstGeom prst="rect">
            <a:avLst/>
          </a:prstGeom>
        </p:spPr>
      </p:pic>
      <p:pic>
        <p:nvPicPr>
          <p:cNvPr id="3" name="New picture"/>
          <p:cNvPicPr/>
          <p:nvPr/>
        </p:nvPicPr>
        <p:blipFill>
          <a:blip r:embed="rId13"/>
          <a:stretch>
            <a:fillRect/>
          </a:stretch>
        </p:blipFill>
        <p:spPr>
          <a:xfrm rot="5400000">
            <a:off x="40690800" y="16459200"/>
            <a:ext cx="14274800" cy="3937000"/>
          </a:xfrm>
          <a:prstGeom prst="rect">
            <a:avLst/>
          </a:prstGeom>
        </p:spPr>
      </p:pic>
      <p:pic>
        <p:nvPicPr>
          <p:cNvPr id="4" name="New picture"/>
          <p:cNvPicPr/>
          <p:nvPr/>
        </p:nvPicPr>
        <p:blipFill>
          <a:blip r:embed="rId14"/>
          <a:stretch>
            <a:fillRect/>
          </a:stretch>
        </p:blipFill>
        <p:spPr>
          <a:xfrm>
            <a:off x="6946900" y="33426400"/>
            <a:ext cx="29997400" cy="1447800"/>
          </a:xfrm>
          <a:prstGeom prst="rect">
            <a:avLst/>
          </a:prstGeom>
        </p:spPr>
      </p:pic>
      <p:sp>
        <p:nvSpPr>
          <p:cNvPr id="5"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ponderingpeacock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074988" rtl="0" eaLnBrk="0" fontAlgn="base" hangingPunct="0">
        <a:spcBef>
          <a:spcPct val="0"/>
        </a:spcBef>
        <a:spcAft>
          <a:spcPct val="0"/>
        </a:spcAft>
        <a:defRPr sz="14800">
          <a:solidFill>
            <a:schemeClr val="tx2"/>
          </a:solidFill>
          <a:latin typeface="+mj-lt"/>
          <a:ea typeface="+mj-ea"/>
          <a:cs typeface="+mj-cs"/>
        </a:defRPr>
      </a:lvl1pPr>
      <a:lvl2pPr algn="ctr" defTabSz="3074988" rtl="0" eaLnBrk="0" fontAlgn="base" hangingPunct="0">
        <a:spcBef>
          <a:spcPct val="0"/>
        </a:spcBef>
        <a:spcAft>
          <a:spcPct val="0"/>
        </a:spcAft>
        <a:defRPr sz="14800">
          <a:solidFill>
            <a:schemeClr val="tx2"/>
          </a:solidFill>
          <a:latin typeface="Times New Roman" pitchFamily="18" charset="0"/>
        </a:defRPr>
      </a:lvl2pPr>
      <a:lvl3pPr algn="ctr" defTabSz="3074988" rtl="0" eaLnBrk="0" fontAlgn="base" hangingPunct="0">
        <a:spcBef>
          <a:spcPct val="0"/>
        </a:spcBef>
        <a:spcAft>
          <a:spcPct val="0"/>
        </a:spcAft>
        <a:defRPr sz="14800">
          <a:solidFill>
            <a:schemeClr val="tx2"/>
          </a:solidFill>
          <a:latin typeface="Times New Roman" pitchFamily="18" charset="0"/>
        </a:defRPr>
      </a:lvl3pPr>
      <a:lvl4pPr algn="ctr" defTabSz="3074988" rtl="0" eaLnBrk="0" fontAlgn="base" hangingPunct="0">
        <a:spcBef>
          <a:spcPct val="0"/>
        </a:spcBef>
        <a:spcAft>
          <a:spcPct val="0"/>
        </a:spcAft>
        <a:defRPr sz="14800">
          <a:solidFill>
            <a:schemeClr val="tx2"/>
          </a:solidFill>
          <a:latin typeface="Times New Roman" pitchFamily="18" charset="0"/>
        </a:defRPr>
      </a:lvl4pPr>
      <a:lvl5pPr algn="ctr" defTabSz="3074988" rtl="0" eaLnBrk="0" fontAlgn="base" hangingPunct="0">
        <a:spcBef>
          <a:spcPct val="0"/>
        </a:spcBef>
        <a:spcAft>
          <a:spcPct val="0"/>
        </a:spcAft>
        <a:defRPr sz="14800">
          <a:solidFill>
            <a:schemeClr val="tx2"/>
          </a:solidFill>
          <a:latin typeface="Times New Roman" pitchFamily="18" charset="0"/>
        </a:defRPr>
      </a:lvl5pPr>
      <a:lvl6pPr marL="457200" algn="ctr" defTabSz="3074988" rtl="0" eaLnBrk="0" fontAlgn="base" hangingPunct="0">
        <a:spcBef>
          <a:spcPct val="0"/>
        </a:spcBef>
        <a:spcAft>
          <a:spcPct val="0"/>
        </a:spcAft>
        <a:defRPr sz="14800">
          <a:solidFill>
            <a:schemeClr val="tx2"/>
          </a:solidFill>
          <a:latin typeface="Times New Roman" pitchFamily="18" charset="0"/>
        </a:defRPr>
      </a:lvl6pPr>
      <a:lvl7pPr marL="914400" algn="ctr" defTabSz="3074988" rtl="0" eaLnBrk="0" fontAlgn="base" hangingPunct="0">
        <a:spcBef>
          <a:spcPct val="0"/>
        </a:spcBef>
        <a:spcAft>
          <a:spcPct val="0"/>
        </a:spcAft>
        <a:defRPr sz="14800">
          <a:solidFill>
            <a:schemeClr val="tx2"/>
          </a:solidFill>
          <a:latin typeface="Times New Roman" pitchFamily="18" charset="0"/>
        </a:defRPr>
      </a:lvl7pPr>
      <a:lvl8pPr marL="1371600" algn="ctr" defTabSz="3074988" rtl="0" eaLnBrk="0" fontAlgn="base" hangingPunct="0">
        <a:spcBef>
          <a:spcPct val="0"/>
        </a:spcBef>
        <a:spcAft>
          <a:spcPct val="0"/>
        </a:spcAft>
        <a:defRPr sz="14800">
          <a:solidFill>
            <a:schemeClr val="tx2"/>
          </a:solidFill>
          <a:latin typeface="Times New Roman" pitchFamily="18" charset="0"/>
        </a:defRPr>
      </a:lvl8pPr>
      <a:lvl9pPr marL="1828800" algn="ctr" defTabSz="3074988" rtl="0" eaLnBrk="0" fontAlgn="base" hangingPunct="0">
        <a:spcBef>
          <a:spcPct val="0"/>
        </a:spcBef>
        <a:spcAft>
          <a:spcPct val="0"/>
        </a:spcAft>
        <a:defRPr sz="14800">
          <a:solidFill>
            <a:schemeClr val="tx2"/>
          </a:solidFill>
          <a:latin typeface="Times New Roman" pitchFamily="18" charset="0"/>
        </a:defRPr>
      </a:lvl9pPr>
    </p:titleStyle>
    <p:bodyStyle>
      <a:defPPr>
        <a:defRPr kern="1200"/>
      </a:defPPr>
      <a:lvl1pPr marL="1150938" indent="-1150938" algn="l" defTabSz="3074988" rtl="0" eaLnBrk="0" fontAlgn="base" hangingPunct="0">
        <a:spcBef>
          <a:spcPct val="20000"/>
        </a:spcBef>
        <a:spcAft>
          <a:spcPct val="0"/>
        </a:spcAft>
        <a:buChar char="•"/>
        <a:defRPr sz="10700">
          <a:solidFill>
            <a:schemeClr val="tx1"/>
          </a:solidFill>
          <a:latin typeface="+mn-lt"/>
          <a:ea typeface="+mn-ea"/>
          <a:cs typeface="+mn-cs"/>
        </a:defRPr>
      </a:lvl1pPr>
      <a:lvl2pPr marL="2497138" indent="-960438" algn="l" defTabSz="3074988" rtl="0" eaLnBrk="0" fontAlgn="base" hangingPunct="0">
        <a:spcBef>
          <a:spcPct val="20000"/>
        </a:spcBef>
        <a:spcAft>
          <a:spcPct val="0"/>
        </a:spcAft>
        <a:buChar char="–"/>
        <a:defRPr sz="9500">
          <a:solidFill>
            <a:schemeClr val="tx1"/>
          </a:solidFill>
          <a:latin typeface="+mn-lt"/>
        </a:defRPr>
      </a:lvl2pPr>
      <a:lvl3pPr marL="3843338" indent="-768350" algn="l" defTabSz="3074988" rtl="0" eaLnBrk="0" fontAlgn="base" hangingPunct="0">
        <a:spcBef>
          <a:spcPct val="20000"/>
        </a:spcBef>
        <a:spcAft>
          <a:spcPct val="0"/>
        </a:spcAft>
        <a:buChar char="•"/>
        <a:defRPr sz="8100">
          <a:solidFill>
            <a:schemeClr val="tx1"/>
          </a:solidFill>
          <a:latin typeface="+mn-lt"/>
        </a:defRPr>
      </a:lvl3pPr>
      <a:lvl4pPr marL="5384800" indent="-773113" algn="l" defTabSz="3074988" rtl="0" eaLnBrk="0" fontAlgn="base" hangingPunct="0">
        <a:spcBef>
          <a:spcPct val="20000"/>
        </a:spcBef>
        <a:spcAft>
          <a:spcPct val="0"/>
        </a:spcAft>
        <a:buChar char="–"/>
        <a:defRPr sz="6500">
          <a:solidFill>
            <a:schemeClr val="tx1"/>
          </a:solidFill>
          <a:latin typeface="+mn-lt"/>
        </a:defRPr>
      </a:lvl4pPr>
      <a:lvl5pPr marL="6921500" indent="-768350" algn="l" defTabSz="3074988" rtl="0" eaLnBrk="0" fontAlgn="base" hangingPunct="0">
        <a:spcBef>
          <a:spcPct val="20000"/>
        </a:spcBef>
        <a:spcAft>
          <a:spcPct val="0"/>
        </a:spcAft>
        <a:buChar char="»"/>
        <a:defRPr sz="6500">
          <a:solidFill>
            <a:schemeClr val="tx1"/>
          </a:solidFill>
          <a:latin typeface="+mn-lt"/>
        </a:defRPr>
      </a:lvl5pPr>
      <a:lvl6pPr marL="7378700" indent="-768350" algn="l" defTabSz="3074988" rtl="0" eaLnBrk="0" fontAlgn="base" hangingPunct="0">
        <a:spcBef>
          <a:spcPct val="20000"/>
        </a:spcBef>
        <a:spcAft>
          <a:spcPct val="0"/>
        </a:spcAft>
        <a:buChar char="»"/>
        <a:defRPr sz="6500">
          <a:solidFill>
            <a:schemeClr val="tx1"/>
          </a:solidFill>
          <a:latin typeface="+mn-lt"/>
        </a:defRPr>
      </a:lvl6pPr>
      <a:lvl7pPr marL="7835900" indent="-768350" algn="l" defTabSz="3074988" rtl="0" eaLnBrk="0" fontAlgn="base" hangingPunct="0">
        <a:spcBef>
          <a:spcPct val="20000"/>
        </a:spcBef>
        <a:spcAft>
          <a:spcPct val="0"/>
        </a:spcAft>
        <a:buChar char="»"/>
        <a:defRPr sz="6500">
          <a:solidFill>
            <a:schemeClr val="tx1"/>
          </a:solidFill>
          <a:latin typeface="+mn-lt"/>
        </a:defRPr>
      </a:lvl7pPr>
      <a:lvl8pPr marL="8293100" indent="-768350" algn="l" defTabSz="3074988" rtl="0" eaLnBrk="0" fontAlgn="base" hangingPunct="0">
        <a:spcBef>
          <a:spcPct val="20000"/>
        </a:spcBef>
        <a:spcAft>
          <a:spcPct val="0"/>
        </a:spcAft>
        <a:buChar char="»"/>
        <a:defRPr sz="6500">
          <a:solidFill>
            <a:schemeClr val="tx1"/>
          </a:solidFill>
          <a:latin typeface="+mn-lt"/>
        </a:defRPr>
      </a:lvl8pPr>
      <a:lvl9pPr marL="8750300" indent="-768350" algn="l" defTabSz="3074988" rtl="0" eaLnBrk="0" fontAlgn="base" hangingPunct="0">
        <a:spcBef>
          <a:spcPct val="20000"/>
        </a:spcBef>
        <a:spcAft>
          <a:spcPct val="0"/>
        </a:spcAft>
        <a:buChar char="»"/>
        <a:defRPr sz="6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111/j.1540-6261.2010.01625.x"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dx.doi.org/10.48550/arXiv.2006.08097" TargetMode="External"/><Relationship Id="rId4" Type="http://schemas.openxmlformats.org/officeDocument/2006/relationships/hyperlink" Target="https://doi.org/10.48550/arXiv.1307.5336" TargetMode="External"/><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solidFill>
          <a:srgbClr val="2D3C50"/>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738CF2D-33F5-9C2D-AE24-533622018891}"/>
              </a:ext>
            </a:extLst>
          </p:cNvPr>
          <p:cNvSpPr/>
          <p:nvPr/>
        </p:nvSpPr>
        <p:spPr>
          <a:xfrm>
            <a:off x="22352472" y="20237406"/>
            <a:ext cx="10058400" cy="119951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28" name="Text Box 241"/>
          <p:cNvSpPr txBox="1">
            <a:spLocks noChangeArrowheads="1"/>
          </p:cNvSpPr>
          <p:nvPr/>
        </p:nvSpPr>
        <p:spPr bwMode="auto">
          <a:xfrm>
            <a:off x="685800" y="685800"/>
            <a:ext cx="42519600" cy="6080622"/>
          </a:xfrm>
          <a:prstGeom prst="snip2DiagRect">
            <a:avLst/>
          </a:prstGeom>
          <a:solidFill>
            <a:srgbClr val="E64B3C"/>
          </a:solidFill>
          <a:ln w="25400">
            <a:noFill/>
            <a:miter lim="800000"/>
          </a:ln>
        </p:spPr>
        <p:txBody>
          <a:bodyPr lIns="61170" tIns="30584" rIns="61170" bIns="30584" anchor="ctr"/>
          <a:lstStyle>
            <a:defPPr>
              <a:defRPr kern="1200"/>
            </a:defPPr>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endParaRPr lang="en-US" altLang="zh-CN" sz="4200" b="1" i="1" u="sng">
              <a:solidFill>
                <a:schemeClr val="bg1"/>
              </a:solidFill>
              <a:latin typeface="Arial"/>
              <a:ea typeface="SimSun" pitchFamily="2" charset="-122"/>
            </a:endParaRPr>
          </a:p>
        </p:txBody>
      </p:sp>
      <p:sp>
        <p:nvSpPr>
          <p:cNvPr id="70" name="Text Placeholder 5">
            <a:extLst>
              <a:ext uri="{FF2B5EF4-FFF2-40B4-BE49-F238E27FC236}">
                <a16:creationId xmlns:a16="http://schemas.microsoft.com/office/drawing/2014/main" id="{425621FB-070F-446E-BA36-4A66EBF8DEF2}"/>
              </a:ext>
            </a:extLst>
          </p:cNvPr>
          <p:cNvSpPr txBox="1"/>
          <p:nvPr/>
        </p:nvSpPr>
        <p:spPr>
          <a:xfrm>
            <a:off x="10002602" y="1150217"/>
            <a:ext cx="23088600" cy="2937440"/>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1086">
              <a:spcBef>
                <a:spcPct val="20000"/>
              </a:spcBef>
              <a:defRPr/>
            </a:pPr>
            <a:r>
              <a:rPr lang="en-US" sz="8500" b="1" dirty="0">
                <a:solidFill>
                  <a:schemeClr val="bg1"/>
                </a:solidFill>
                <a:effectLst/>
                <a:latin typeface="Quattrocento" panose="02020802030000000404" pitchFamily="18" charset="0"/>
              </a:rPr>
              <a:t>Financial Sentiment Analysis Using Custom Multinomial Logistic </a:t>
            </a:r>
            <a:r>
              <a:rPr lang="en-US" sz="8500" b="1" dirty="0" err="1">
                <a:solidFill>
                  <a:schemeClr val="bg1"/>
                </a:solidFill>
                <a:effectLst/>
                <a:latin typeface="Quattrocento" panose="02020802030000000404" pitchFamily="18" charset="0"/>
              </a:rPr>
              <a:t>Regresssion</a:t>
            </a:r>
            <a:endParaRPr lang="en-US" sz="8500" b="1" dirty="0">
              <a:solidFill>
                <a:schemeClr val="bg1"/>
              </a:solidFill>
              <a:effectLst/>
              <a:latin typeface="Quattrocento" panose="02020802030000000404" pitchFamily="18" charset="0"/>
            </a:endParaRPr>
          </a:p>
        </p:txBody>
      </p:sp>
      <p:sp>
        <p:nvSpPr>
          <p:cNvPr id="71" name="Text Placeholder 5">
            <a:extLst>
              <a:ext uri="{FF2B5EF4-FFF2-40B4-BE49-F238E27FC236}">
                <a16:creationId xmlns:a16="http://schemas.microsoft.com/office/drawing/2014/main" id="{3A3E55C8-5130-4258-80B1-064CE3FDB621}"/>
              </a:ext>
            </a:extLst>
          </p:cNvPr>
          <p:cNvSpPr txBox="1"/>
          <p:nvPr/>
        </p:nvSpPr>
        <p:spPr>
          <a:xfrm>
            <a:off x="3657600" y="4352496"/>
            <a:ext cx="36576000" cy="1895904"/>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5600" dirty="0">
                <a:solidFill>
                  <a:schemeClr val="bg1"/>
                </a:solidFill>
                <a:effectLst/>
                <a:latin typeface="Quattrocento" panose="02020802030000000404" pitchFamily="18" charset="0"/>
                <a:cs typeface="Arial" pitchFamily="34" charset="0"/>
              </a:rPr>
              <a:t>A Domain-Specific Approach to Financial Text Classification</a:t>
            </a:r>
          </a:p>
          <a:p>
            <a:pPr algn="ctr">
              <a:defRPr/>
            </a:pPr>
            <a:r>
              <a:rPr lang="en-US" sz="5600" dirty="0">
                <a:solidFill>
                  <a:schemeClr val="bg1"/>
                </a:solidFill>
                <a:effectLst/>
                <a:latin typeface="Quattrocento" panose="02020802030000000404" pitchFamily="18" charset="0"/>
                <a:cs typeface="Arial" pitchFamily="34" charset="0"/>
              </a:rPr>
              <a:t>Authors: Nathan Nguyen &amp; Camela Phung</a:t>
            </a:r>
          </a:p>
        </p:txBody>
      </p:sp>
      <p:sp>
        <p:nvSpPr>
          <p:cNvPr id="75" name="Rectangle 74">
            <a:extLst>
              <a:ext uri="{FF2B5EF4-FFF2-40B4-BE49-F238E27FC236}">
                <a16:creationId xmlns:a16="http://schemas.microsoft.com/office/drawing/2014/main" id="{C24D4BC5-5256-4C2E-B3FB-87EA69B63AF3}"/>
              </a:ext>
            </a:extLst>
          </p:cNvPr>
          <p:cNvSpPr/>
          <p:nvPr/>
        </p:nvSpPr>
        <p:spPr>
          <a:xfrm>
            <a:off x="660482" y="8000999"/>
            <a:ext cx="10058400" cy="9376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73" name="TextBox 19">
            <a:extLst>
              <a:ext uri="{FF2B5EF4-FFF2-40B4-BE49-F238E27FC236}">
                <a16:creationId xmlns:a16="http://schemas.microsoft.com/office/drawing/2014/main" id="{D5A32123-7974-4A0F-B8DF-6C82FB22F596}"/>
              </a:ext>
            </a:extLst>
          </p:cNvPr>
          <p:cNvSpPr txBox="1">
            <a:spLocks noChangeArrowheads="1"/>
          </p:cNvSpPr>
          <p:nvPr/>
        </p:nvSpPr>
        <p:spPr bwMode="auto">
          <a:xfrm>
            <a:off x="890594" y="8610600"/>
            <a:ext cx="9598176" cy="8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0" i="0" dirty="0">
                <a:solidFill>
                  <a:srgbClr val="212121"/>
                </a:solidFill>
                <a:effectLst/>
                <a:latin typeface="Aptos" panose="020B0004020202020204" pitchFamily="34" charset="0"/>
              </a:rPr>
              <a:t>This project implements a financial sentiment analysis system using a multinomial logistic regression model. </a:t>
            </a:r>
          </a:p>
          <a:p>
            <a:pPr algn="just">
              <a:lnSpc>
                <a:spcPct val="110000"/>
              </a:lnSpc>
            </a:pPr>
            <a:r>
              <a:rPr lang="en-US" sz="3600" b="0" i="0" dirty="0">
                <a:solidFill>
                  <a:srgbClr val="212121"/>
                </a:solidFill>
                <a:effectLst/>
                <a:latin typeface="Aptos" panose="020B0004020202020204" pitchFamily="34" charset="0"/>
              </a:rPr>
              <a:t>The system analyzes financial news articles to determine sentiment (positive, negative, or neutral) by leveraging domain-specific financial lexicons and advanced text preprocessing techniques. </a:t>
            </a:r>
          </a:p>
          <a:p>
            <a:pPr algn="just">
              <a:lnSpc>
                <a:spcPct val="110000"/>
              </a:lnSpc>
            </a:pPr>
            <a:r>
              <a:rPr lang="en-US" sz="3600" b="0" i="0" dirty="0">
                <a:solidFill>
                  <a:srgbClr val="212121"/>
                </a:solidFill>
                <a:effectLst/>
                <a:latin typeface="Aptos" panose="020B0004020202020204" pitchFamily="34" charset="0"/>
              </a:rPr>
              <a:t>Our implementation achieves reasonable accuracy without relying on complex deep learning architectures, demonstrating the effectiveness of well-engineered classical machine learning approaches for specialized text classification.</a:t>
            </a:r>
            <a:endParaRPr lang="en-US" sz="4000" dirty="0">
              <a:effectLst/>
              <a:latin typeface="Aptos" panose="020B0004020202020204" pitchFamily="34" charset="0"/>
              <a:cs typeface="Arial" pitchFamily="34" charset="0"/>
            </a:endParaRPr>
          </a:p>
        </p:txBody>
      </p:sp>
      <p:sp>
        <p:nvSpPr>
          <p:cNvPr id="74" name="Rectangle 10">
            <a:extLst>
              <a:ext uri="{FF2B5EF4-FFF2-40B4-BE49-F238E27FC236}">
                <a16:creationId xmlns:a16="http://schemas.microsoft.com/office/drawing/2014/main" id="{4EDA12B6-07B5-44F9-8F8B-E1BE66469DB6}"/>
              </a:ext>
            </a:extLst>
          </p:cNvPr>
          <p:cNvSpPr>
            <a:spLocks noChangeArrowheads="1"/>
          </p:cNvSpPr>
          <p:nvPr/>
        </p:nvSpPr>
        <p:spPr bwMode="auto">
          <a:xfrm>
            <a:off x="660482" y="7471321"/>
            <a:ext cx="10058400" cy="873301"/>
          </a:xfrm>
          <a:prstGeom prst="snipRoundRect">
            <a:avLst>
              <a:gd name="adj1" fmla="val 0"/>
              <a:gd name="adj2" fmla="val 50000"/>
            </a:avLst>
          </a:prstGeom>
          <a:solidFill>
            <a:srgbClr val="3684A0"/>
          </a:solidFill>
          <a:ln w="12700">
            <a:noFill/>
            <a:miter lim="800000"/>
          </a:ln>
        </p:spPr>
        <p:txBody>
          <a:bodyPr wrap="none" lIns="274320" tIns="73152" rIns="274320" bIns="68563" anchor="ctr" anchorCtr="0"/>
          <a:lstStyle>
            <a:defPPr>
              <a:defRPr kern="1200"/>
            </a:defPPr>
          </a:lstStyle>
          <a:p>
            <a:pPr defTabSz="4702588">
              <a:defRPr/>
            </a:pPr>
            <a:r>
              <a:rPr lang="en-US" sz="3600" b="1">
                <a:solidFill>
                  <a:schemeClr val="bg1"/>
                </a:solidFill>
                <a:effectLst/>
                <a:latin typeface="Quattrocento" panose="02020802030000000404" pitchFamily="18" charset="0"/>
              </a:rPr>
              <a:t>Abstract</a:t>
            </a:r>
          </a:p>
        </p:txBody>
      </p:sp>
      <p:sp>
        <p:nvSpPr>
          <p:cNvPr id="79" name="Rectangle 78">
            <a:extLst>
              <a:ext uri="{FF2B5EF4-FFF2-40B4-BE49-F238E27FC236}">
                <a16:creationId xmlns:a16="http://schemas.microsoft.com/office/drawing/2014/main" id="{0F831EE1-8866-4A3E-8CAB-8624A11FF145}"/>
              </a:ext>
            </a:extLst>
          </p:cNvPr>
          <p:cNvSpPr/>
          <p:nvPr/>
        </p:nvSpPr>
        <p:spPr>
          <a:xfrm>
            <a:off x="11560403" y="7943797"/>
            <a:ext cx="10058400" cy="13620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81" name="Rectangle 10">
            <a:extLst>
              <a:ext uri="{FF2B5EF4-FFF2-40B4-BE49-F238E27FC236}">
                <a16:creationId xmlns:a16="http://schemas.microsoft.com/office/drawing/2014/main" id="{868B6862-5CC5-4906-AC03-EA9661AD1346}"/>
              </a:ext>
            </a:extLst>
          </p:cNvPr>
          <p:cNvSpPr>
            <a:spLocks noChangeArrowheads="1"/>
          </p:cNvSpPr>
          <p:nvPr/>
        </p:nvSpPr>
        <p:spPr bwMode="auto">
          <a:xfrm>
            <a:off x="11554623" y="7471321"/>
            <a:ext cx="10086177" cy="873301"/>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Dataset and Preprocessing</a:t>
            </a:r>
          </a:p>
        </p:txBody>
      </p:sp>
      <p:sp>
        <p:nvSpPr>
          <p:cNvPr id="82" name="Rectangle 81">
            <a:extLst>
              <a:ext uri="{FF2B5EF4-FFF2-40B4-BE49-F238E27FC236}">
                <a16:creationId xmlns:a16="http://schemas.microsoft.com/office/drawing/2014/main" id="{D026A6A3-D6D2-4951-8B04-EF51015D25DB}"/>
              </a:ext>
            </a:extLst>
          </p:cNvPr>
          <p:cNvSpPr/>
          <p:nvPr/>
        </p:nvSpPr>
        <p:spPr>
          <a:xfrm>
            <a:off x="22316522" y="8000999"/>
            <a:ext cx="10058400" cy="109728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84" name="Rectangle 10">
            <a:extLst>
              <a:ext uri="{FF2B5EF4-FFF2-40B4-BE49-F238E27FC236}">
                <a16:creationId xmlns:a16="http://schemas.microsoft.com/office/drawing/2014/main" id="{3D96BB99-3F6E-4E73-BA6B-A122D83B12A2}"/>
              </a:ext>
            </a:extLst>
          </p:cNvPr>
          <p:cNvSpPr>
            <a:spLocks noChangeArrowheads="1"/>
          </p:cNvSpPr>
          <p:nvPr/>
        </p:nvSpPr>
        <p:spPr bwMode="auto">
          <a:xfrm>
            <a:off x="22316522" y="7471321"/>
            <a:ext cx="10058400" cy="873301"/>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Results and Performance</a:t>
            </a:r>
          </a:p>
        </p:txBody>
      </p:sp>
      <p:sp>
        <p:nvSpPr>
          <p:cNvPr id="85" name="Rectangle 84">
            <a:extLst>
              <a:ext uri="{FF2B5EF4-FFF2-40B4-BE49-F238E27FC236}">
                <a16:creationId xmlns:a16="http://schemas.microsoft.com/office/drawing/2014/main" id="{19BFD724-D51D-4DD6-A93A-40ABEA405C90}"/>
              </a:ext>
            </a:extLst>
          </p:cNvPr>
          <p:cNvSpPr/>
          <p:nvPr/>
        </p:nvSpPr>
        <p:spPr>
          <a:xfrm>
            <a:off x="33144541" y="8000999"/>
            <a:ext cx="10058400" cy="180768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latin typeface="+mj-lt"/>
            </a:endParaRPr>
          </a:p>
        </p:txBody>
      </p:sp>
      <p:sp>
        <p:nvSpPr>
          <p:cNvPr id="87" name="Rectangle 10">
            <a:extLst>
              <a:ext uri="{FF2B5EF4-FFF2-40B4-BE49-F238E27FC236}">
                <a16:creationId xmlns:a16="http://schemas.microsoft.com/office/drawing/2014/main" id="{0BE282AE-183A-4D49-B152-23A5A101BEA6}"/>
              </a:ext>
            </a:extLst>
          </p:cNvPr>
          <p:cNvSpPr>
            <a:spLocks noChangeArrowheads="1"/>
          </p:cNvSpPr>
          <p:nvPr/>
        </p:nvSpPr>
        <p:spPr bwMode="auto">
          <a:xfrm>
            <a:off x="33144541" y="7471321"/>
            <a:ext cx="10058400" cy="873301"/>
          </a:xfrm>
          <a:prstGeom prst="snipRoundRect">
            <a:avLst>
              <a:gd name="adj1" fmla="val 0"/>
              <a:gd name="adj2" fmla="val 50000"/>
            </a:avLst>
          </a:prstGeom>
          <a:solidFill>
            <a:srgbClr val="3684A0"/>
          </a:solidFill>
          <a:ln w="12700">
            <a:noFill/>
            <a:miter lim="800000"/>
          </a:ln>
        </p:spPr>
        <p:txBody>
          <a:bodyPr wrap="none" lIns="274320" tIns="73152" rIns="274320" bIns="68563" anchor="ctr" anchorCtr="0"/>
          <a:lstStyle>
            <a:defPPr>
              <a:defRPr kern="1200"/>
            </a:defPPr>
          </a:lstStyle>
          <a:p>
            <a:pPr defTabSz="4702588">
              <a:defRPr/>
            </a:pPr>
            <a:r>
              <a:rPr lang="en-US" sz="3600" b="1">
                <a:solidFill>
                  <a:schemeClr val="bg1"/>
                </a:solidFill>
                <a:effectLst/>
                <a:latin typeface="Quattrocento" panose="02020802030000000404" pitchFamily="18" charset="0"/>
              </a:rPr>
              <a:t>Conclusion</a:t>
            </a:r>
          </a:p>
        </p:txBody>
      </p:sp>
      <p:sp>
        <p:nvSpPr>
          <p:cNvPr id="88" name="Rectangle 87">
            <a:extLst>
              <a:ext uri="{FF2B5EF4-FFF2-40B4-BE49-F238E27FC236}">
                <a16:creationId xmlns:a16="http://schemas.microsoft.com/office/drawing/2014/main" id="{236036AE-C83F-4AC9-800C-C6574727635F}"/>
              </a:ext>
            </a:extLst>
          </p:cNvPr>
          <p:cNvSpPr/>
          <p:nvPr/>
        </p:nvSpPr>
        <p:spPr>
          <a:xfrm>
            <a:off x="660482" y="18211800"/>
            <a:ext cx="10058400" cy="14020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90" name="Rectangle 10">
            <a:extLst>
              <a:ext uri="{FF2B5EF4-FFF2-40B4-BE49-F238E27FC236}">
                <a16:creationId xmlns:a16="http://schemas.microsoft.com/office/drawing/2014/main" id="{8C463412-CC68-4A0F-AE72-68EF99EB2F46}"/>
              </a:ext>
            </a:extLst>
          </p:cNvPr>
          <p:cNvSpPr>
            <a:spLocks noChangeArrowheads="1"/>
          </p:cNvSpPr>
          <p:nvPr/>
        </p:nvSpPr>
        <p:spPr bwMode="auto">
          <a:xfrm>
            <a:off x="660482" y="17769977"/>
            <a:ext cx="10058400" cy="873301"/>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Introduction and Motivation</a:t>
            </a:r>
          </a:p>
        </p:txBody>
      </p:sp>
      <p:sp>
        <p:nvSpPr>
          <p:cNvPr id="91" name="Rectangle 90">
            <a:extLst>
              <a:ext uri="{FF2B5EF4-FFF2-40B4-BE49-F238E27FC236}">
                <a16:creationId xmlns:a16="http://schemas.microsoft.com/office/drawing/2014/main" id="{65D5CB20-8752-4D75-A601-0EEB3443D27F}"/>
              </a:ext>
            </a:extLst>
          </p:cNvPr>
          <p:cNvSpPr/>
          <p:nvPr/>
        </p:nvSpPr>
        <p:spPr>
          <a:xfrm>
            <a:off x="33147000" y="27355800"/>
            <a:ext cx="10058400" cy="487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92" name="TextBox 19">
            <a:extLst>
              <a:ext uri="{FF2B5EF4-FFF2-40B4-BE49-F238E27FC236}">
                <a16:creationId xmlns:a16="http://schemas.microsoft.com/office/drawing/2014/main" id="{B4F3D693-DA0F-454D-94C0-CEAA07C14AE3}"/>
              </a:ext>
            </a:extLst>
          </p:cNvPr>
          <p:cNvSpPr txBox="1">
            <a:spLocks noChangeArrowheads="1"/>
          </p:cNvSpPr>
          <p:nvPr/>
        </p:nvSpPr>
        <p:spPr bwMode="auto">
          <a:xfrm>
            <a:off x="33377113" y="28041600"/>
            <a:ext cx="9598176" cy="3819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marL="342900" marR="0" lvl="0" indent="-342900">
              <a:lnSpc>
                <a:spcPct val="115000"/>
              </a:lnSpc>
              <a:spcAft>
                <a:spcPts val="800"/>
              </a:spcAft>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LOUGHRAN, TIM, and BILL MCDONALD. “When Is a Liability Not a Liability? Textual Analysis, Dictionaries, and 10</a:t>
            </a:r>
            <a:r>
              <a:rPr lang="en-US" kern="100" dirty="0">
                <a:effectLst/>
                <a:latin typeface="Aptos" panose="020B0004020202020204" pitchFamily="34" charset="0"/>
                <a:ea typeface="Aptos" panose="020B0004020202020204" pitchFamily="34" charset="0"/>
                <a:cs typeface="Cambria Math" panose="02040503050406030204" pitchFamily="18" charset="0"/>
              </a:rPr>
              <a:t>‐</a:t>
            </a:r>
            <a:r>
              <a:rPr lang="en-US" kern="100" dirty="0">
                <a:effectLst/>
                <a:latin typeface="Aptos" panose="020B0004020202020204" pitchFamily="34" charset="0"/>
                <a:ea typeface="Aptos" panose="020B0004020202020204" pitchFamily="34" charset="0"/>
                <a:cs typeface="Times New Roman" panose="02020603050405020304" pitchFamily="18" charset="0"/>
              </a:rPr>
              <a:t>KS.</a:t>
            </a:r>
            <a:r>
              <a:rPr lang="en-US" kern="100" dirty="0">
                <a:effectLst/>
                <a:latin typeface="Aptos" panose="020B0004020202020204" pitchFamily="34" charset="0"/>
                <a:ea typeface="Aptos" panose="020B0004020202020204" pitchFamily="34" charset="0"/>
                <a:cs typeface="Aptos" panose="020B0004020202020204" pitchFamily="34" charset="0"/>
              </a:rPr>
              <a:t>”</a:t>
            </a:r>
            <a:r>
              <a:rPr lang="en-US" kern="100" dirty="0">
                <a:effectLst/>
                <a:latin typeface="Aptos" panose="020B0004020202020204" pitchFamily="34" charset="0"/>
                <a:ea typeface="Aptos" panose="020B0004020202020204" pitchFamily="34" charset="0"/>
                <a:cs typeface="Times New Roman" panose="02020603050405020304" pitchFamily="18" charset="0"/>
              </a:rPr>
              <a:t> The Journal of Finance 66, no. 1 (January 6, 2011): 35</a:t>
            </a:r>
            <a:r>
              <a:rPr lang="en-US" kern="100" dirty="0">
                <a:effectLst/>
                <a:latin typeface="Aptos" panose="020B0004020202020204" pitchFamily="34" charset="0"/>
                <a:ea typeface="Aptos" panose="020B0004020202020204" pitchFamily="34" charset="0"/>
                <a:cs typeface="Aptos" panose="020B0004020202020204" pitchFamily="34" charset="0"/>
              </a:rPr>
              <a:t>–</a:t>
            </a:r>
            <a:r>
              <a:rPr lang="en-US" kern="100" dirty="0">
                <a:effectLst/>
                <a:latin typeface="Aptos" panose="020B0004020202020204" pitchFamily="34" charset="0"/>
                <a:ea typeface="Aptos" panose="020B0004020202020204" pitchFamily="34" charset="0"/>
                <a:cs typeface="Times New Roman" panose="02020603050405020304" pitchFamily="18" charset="0"/>
              </a:rPr>
              <a:t>65. </a:t>
            </a:r>
            <a:r>
              <a:rPr lang="en-US"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https://doi.org/10.1111/j.1540-6261.2010.01625.x</a:t>
            </a:r>
            <a:r>
              <a:rPr lang="en-US"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15000"/>
              </a:lnSpc>
              <a:spcAft>
                <a:spcPts val="800"/>
              </a:spcAft>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Malo, P., Sinha, A., Korhonen, P., Wallenius, J., &amp; Takala, P. (2014). Good debt or bad debt: Detecting semantic orientations in economic texts. Journal of the Association for Information Science and Technology, 65(4), 782-796. </a:t>
            </a:r>
            <a:r>
              <a:rPr lang="en-US"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https://doi.org/10.48550/arXiv.1307.5336</a:t>
            </a:r>
            <a:r>
              <a:rPr lang="en-US"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15000"/>
              </a:lnSpc>
              <a:spcAft>
                <a:spcPts val="800"/>
              </a:spcAft>
              <a:buFont typeface="+mj-lt"/>
              <a:buAutoNum type="arabicPeriod"/>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Yang, L., Lin, J., Liang, X., &amp; Zhou, Y. (2020). </a:t>
            </a:r>
            <a:r>
              <a:rPr lang="en-US" kern="100" dirty="0" err="1">
                <a:effectLst/>
                <a:latin typeface="Aptos" panose="020B0004020202020204" pitchFamily="34" charset="0"/>
                <a:ea typeface="Aptos" panose="020B0004020202020204" pitchFamily="34" charset="0"/>
                <a:cs typeface="Times New Roman" panose="02020603050405020304" pitchFamily="18" charset="0"/>
              </a:rPr>
              <a:t>FinBERT</a:t>
            </a:r>
            <a:r>
              <a:rPr lang="en-US" kern="100" dirty="0">
                <a:effectLst/>
                <a:latin typeface="Aptos" panose="020B0004020202020204" pitchFamily="34" charset="0"/>
                <a:ea typeface="Aptos" panose="020B0004020202020204" pitchFamily="34" charset="0"/>
                <a:cs typeface="Times New Roman" panose="02020603050405020304" pitchFamily="18" charset="0"/>
              </a:rPr>
              <a:t>: A Pre-trained Financial Language Representation Model for Financial Text Mining. </a:t>
            </a:r>
            <a:r>
              <a:rPr lang="en-US"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http://dx.doi.org/10.48550/arXiv.2006.08097</a:t>
            </a:r>
            <a:r>
              <a:rPr lang="en-US"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93" name="Rectangle 10">
            <a:extLst>
              <a:ext uri="{FF2B5EF4-FFF2-40B4-BE49-F238E27FC236}">
                <a16:creationId xmlns:a16="http://schemas.microsoft.com/office/drawing/2014/main" id="{5EDC1F28-88BB-4DAD-9112-B4904B4A7E46}"/>
              </a:ext>
            </a:extLst>
          </p:cNvPr>
          <p:cNvSpPr>
            <a:spLocks noChangeArrowheads="1"/>
          </p:cNvSpPr>
          <p:nvPr/>
        </p:nvSpPr>
        <p:spPr bwMode="auto">
          <a:xfrm>
            <a:off x="33147000" y="26913976"/>
            <a:ext cx="10058400" cy="873301"/>
          </a:xfrm>
          <a:prstGeom prst="snipRoundRect">
            <a:avLst>
              <a:gd name="adj1" fmla="val 0"/>
              <a:gd name="adj2" fmla="val 46622"/>
            </a:avLst>
          </a:prstGeom>
          <a:solidFill>
            <a:schemeClr val="bg1">
              <a:lumMod val="50000"/>
            </a:schemeClr>
          </a:solidFill>
          <a:ln w="12700">
            <a:noFill/>
            <a:miter lim="800000"/>
          </a:ln>
        </p:spPr>
        <p:txBody>
          <a:bodyPr wrap="none" lIns="274320" tIns="73152" rIns="274320" bIns="68563" anchor="ctr" anchorCtr="0"/>
          <a:lstStyle>
            <a:defPPr>
              <a:defRPr kern="1200"/>
            </a:defPPr>
          </a:lstStyle>
          <a:p>
            <a:pPr defTabSz="4702588">
              <a:defRPr/>
            </a:pPr>
            <a:r>
              <a:rPr lang="en-US" sz="3600" b="1">
                <a:solidFill>
                  <a:schemeClr val="bg1"/>
                </a:solidFill>
                <a:effectLst/>
                <a:latin typeface="Quattrocento" panose="02020802030000000404" pitchFamily="18" charset="0"/>
              </a:rPr>
              <a:t>Acknowledgements</a:t>
            </a:r>
          </a:p>
        </p:txBody>
      </p:sp>
      <p:sp>
        <p:nvSpPr>
          <p:cNvPr id="3" name="TextBox 19">
            <a:extLst>
              <a:ext uri="{FF2B5EF4-FFF2-40B4-BE49-F238E27FC236}">
                <a16:creationId xmlns:a16="http://schemas.microsoft.com/office/drawing/2014/main" id="{92AB259D-674A-CAAD-086F-9427C6AA5D32}"/>
              </a:ext>
            </a:extLst>
          </p:cNvPr>
          <p:cNvSpPr txBox="1">
            <a:spLocks noChangeArrowheads="1"/>
          </p:cNvSpPr>
          <p:nvPr/>
        </p:nvSpPr>
        <p:spPr bwMode="auto">
          <a:xfrm>
            <a:off x="862540" y="18973800"/>
            <a:ext cx="9598176" cy="6391471"/>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spcBef>
                <a:spcPts val="750"/>
              </a:spcBef>
              <a:spcAft>
                <a:spcPts val="750"/>
              </a:spcAft>
              <a:buNone/>
            </a:pPr>
            <a:r>
              <a:rPr lang="en-US" sz="3600" b="0" i="0" dirty="0">
                <a:solidFill>
                  <a:srgbClr val="212121"/>
                </a:solidFill>
                <a:effectLst/>
                <a:latin typeface="Aptos" panose="020B0004020202020204" pitchFamily="34" charset="0"/>
              </a:rPr>
              <a:t>Financial sentiment analysis presents unique challenges compared to general sentiment analysis due to the specialized terminology and nuanced expressions found in financial texts. Words that appear neutral in everyday contexts may carry strong sentiment signals in financial reporting.</a:t>
            </a:r>
          </a:p>
          <a:p>
            <a:pPr algn="just">
              <a:spcBef>
                <a:spcPts val="750"/>
              </a:spcBef>
              <a:spcAft>
                <a:spcPts val="750"/>
              </a:spcAft>
            </a:pPr>
            <a:r>
              <a:rPr lang="en-US" sz="3600" b="0" i="0" dirty="0">
                <a:solidFill>
                  <a:srgbClr val="212121"/>
                </a:solidFill>
                <a:effectLst/>
                <a:latin typeface="Aptos" panose="020B0004020202020204" pitchFamily="34" charset="0"/>
              </a:rPr>
              <a:t>Our approach aims to balance accuracy with interpretability and efficiency by implementing a multinomial logistic regression model tailored for financial text.</a:t>
            </a:r>
          </a:p>
        </p:txBody>
      </p:sp>
      <p:pic>
        <p:nvPicPr>
          <p:cNvPr id="5" name="Picture 4" descr="A close up of words&#10;&#10;AI-generated content may be incorrect.">
            <a:extLst>
              <a:ext uri="{FF2B5EF4-FFF2-40B4-BE49-F238E27FC236}">
                <a16:creationId xmlns:a16="http://schemas.microsoft.com/office/drawing/2014/main" id="{EBA5D276-2B7F-D50B-EAE8-5B76096BC6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0482" y="25365271"/>
            <a:ext cx="9946303" cy="4973152"/>
          </a:xfrm>
          <a:prstGeom prst="rect">
            <a:avLst/>
          </a:prstGeom>
        </p:spPr>
      </p:pic>
      <p:sp>
        <p:nvSpPr>
          <p:cNvPr id="6" name="Rectangle 5">
            <a:extLst>
              <a:ext uri="{FF2B5EF4-FFF2-40B4-BE49-F238E27FC236}">
                <a16:creationId xmlns:a16="http://schemas.microsoft.com/office/drawing/2014/main" id="{82077EC2-D3B3-034A-9049-CF9353052CB6}"/>
              </a:ext>
            </a:extLst>
          </p:cNvPr>
          <p:cNvSpPr/>
          <p:nvPr/>
        </p:nvSpPr>
        <p:spPr>
          <a:xfrm>
            <a:off x="11460725" y="22741977"/>
            <a:ext cx="10058400" cy="9490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7" name="Rectangle 10">
            <a:extLst>
              <a:ext uri="{FF2B5EF4-FFF2-40B4-BE49-F238E27FC236}">
                <a16:creationId xmlns:a16="http://schemas.microsoft.com/office/drawing/2014/main" id="{16E6EBE7-6BD3-892B-CB5D-3408A004ADED}"/>
              </a:ext>
            </a:extLst>
          </p:cNvPr>
          <p:cNvSpPr>
            <a:spLocks noChangeArrowheads="1"/>
          </p:cNvSpPr>
          <p:nvPr/>
        </p:nvSpPr>
        <p:spPr bwMode="auto">
          <a:xfrm>
            <a:off x="11478423" y="21879976"/>
            <a:ext cx="10086177" cy="873302"/>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Model Architecture</a:t>
            </a:r>
          </a:p>
        </p:txBody>
      </p:sp>
      <p:sp>
        <p:nvSpPr>
          <p:cNvPr id="8" name="TextBox 19">
            <a:extLst>
              <a:ext uri="{FF2B5EF4-FFF2-40B4-BE49-F238E27FC236}">
                <a16:creationId xmlns:a16="http://schemas.microsoft.com/office/drawing/2014/main" id="{6BE044D5-7B35-6585-29B7-99424C2EE9F4}"/>
              </a:ext>
            </a:extLst>
          </p:cNvPr>
          <p:cNvSpPr txBox="1">
            <a:spLocks noChangeArrowheads="1"/>
          </p:cNvSpPr>
          <p:nvPr/>
        </p:nvSpPr>
        <p:spPr bwMode="auto">
          <a:xfrm>
            <a:off x="11676948" y="8577905"/>
            <a:ext cx="9598176" cy="250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0" i="0" dirty="0">
                <a:solidFill>
                  <a:srgbClr val="212121"/>
                </a:solidFill>
                <a:effectLst/>
                <a:latin typeface="Aptos" panose="020B0004020202020204" pitchFamily="34" charset="0"/>
              </a:rPr>
              <a:t>We used the Financial </a:t>
            </a:r>
            <a:r>
              <a:rPr lang="en-US" sz="3600" b="0" i="0" dirty="0" err="1">
                <a:solidFill>
                  <a:srgbClr val="212121"/>
                </a:solidFill>
                <a:effectLst/>
                <a:latin typeface="Aptos" panose="020B0004020202020204" pitchFamily="34" charset="0"/>
              </a:rPr>
              <a:t>Phrasebank</a:t>
            </a:r>
            <a:r>
              <a:rPr lang="en-US" sz="3600" b="0" i="0" dirty="0">
                <a:solidFill>
                  <a:srgbClr val="212121"/>
                </a:solidFill>
                <a:effectLst/>
                <a:latin typeface="Aptos" panose="020B0004020202020204" pitchFamily="34" charset="0"/>
              </a:rPr>
              <a:t> dataset, containing manually labeled financial news sentences. The dataset exhibits significant class imbalances:</a:t>
            </a:r>
            <a:endParaRPr lang="en-US" sz="4000" dirty="0">
              <a:effectLst/>
              <a:latin typeface="Aptos" panose="020B0004020202020204" pitchFamily="34" charset="0"/>
              <a:cs typeface="Arial" pitchFamily="34" charset="0"/>
            </a:endParaRPr>
          </a:p>
        </p:txBody>
      </p:sp>
      <p:pic>
        <p:nvPicPr>
          <p:cNvPr id="10" name="Picture 9" descr="A graph of different colored squares&#10;&#10;AI-generated content may be incorrect.">
            <a:extLst>
              <a:ext uri="{FF2B5EF4-FFF2-40B4-BE49-F238E27FC236}">
                <a16:creationId xmlns:a16="http://schemas.microsoft.com/office/drawing/2014/main" id="{822043CF-D9F6-3F01-61F3-A3D40EFA16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73470" y="11231747"/>
            <a:ext cx="9144018" cy="5486411"/>
          </a:xfrm>
          <a:prstGeom prst="rect">
            <a:avLst/>
          </a:prstGeom>
        </p:spPr>
      </p:pic>
      <p:sp>
        <p:nvSpPr>
          <p:cNvPr id="11" name="TextBox 19">
            <a:extLst>
              <a:ext uri="{FF2B5EF4-FFF2-40B4-BE49-F238E27FC236}">
                <a16:creationId xmlns:a16="http://schemas.microsoft.com/office/drawing/2014/main" id="{DEC784D1-493D-86D9-C732-DAC0DC81F42C}"/>
              </a:ext>
            </a:extLst>
          </p:cNvPr>
          <p:cNvSpPr txBox="1">
            <a:spLocks noChangeArrowheads="1"/>
          </p:cNvSpPr>
          <p:nvPr/>
        </p:nvSpPr>
        <p:spPr bwMode="auto">
          <a:xfrm>
            <a:off x="11735819" y="16866593"/>
            <a:ext cx="9144019" cy="43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0" i="0" dirty="0">
                <a:solidFill>
                  <a:srgbClr val="212121"/>
                </a:solidFill>
                <a:effectLst/>
                <a:latin typeface="Aptos" panose="020B0004020202020204" pitchFamily="34" charset="0"/>
              </a:rPr>
              <a:t>Preprocessing Pipeline:</a:t>
            </a:r>
          </a:p>
          <a:p>
            <a:pPr marL="571500" indent="-571500" algn="just">
              <a:lnSpc>
                <a:spcPct val="110000"/>
              </a:lnSpc>
              <a:buFont typeface="Arial" panose="020B0604020202020204" pitchFamily="34" charset="0"/>
              <a:buChar char="•"/>
            </a:pPr>
            <a:r>
              <a:rPr lang="en-US" sz="3600" dirty="0">
                <a:solidFill>
                  <a:srgbClr val="212121"/>
                </a:solidFill>
                <a:effectLst/>
                <a:latin typeface="Aptos" panose="020B0004020202020204" pitchFamily="34" charset="0"/>
                <a:cs typeface="Arial" pitchFamily="34" charset="0"/>
              </a:rPr>
              <a:t>Text normalization</a:t>
            </a:r>
          </a:p>
          <a:p>
            <a:pPr marL="571500" indent="-571500" algn="just">
              <a:lnSpc>
                <a:spcPct val="110000"/>
              </a:lnSpc>
              <a:buFont typeface="Arial" panose="020B0604020202020204" pitchFamily="34" charset="0"/>
              <a:buChar char="•"/>
            </a:pPr>
            <a:r>
              <a:rPr lang="en-US" sz="3600" dirty="0">
                <a:solidFill>
                  <a:srgbClr val="212121"/>
                </a:solidFill>
                <a:effectLst/>
                <a:latin typeface="Aptos" panose="020B0004020202020204" pitchFamily="34" charset="0"/>
                <a:cs typeface="Arial" pitchFamily="34" charset="0"/>
              </a:rPr>
              <a:t>Tokenization and Porter Stemming</a:t>
            </a:r>
          </a:p>
          <a:p>
            <a:pPr marL="571500" indent="-571500" algn="just">
              <a:lnSpc>
                <a:spcPct val="110000"/>
              </a:lnSpc>
              <a:buFont typeface="Arial" panose="020B0604020202020204" pitchFamily="34" charset="0"/>
              <a:buChar char="•"/>
            </a:pPr>
            <a:r>
              <a:rPr lang="en-US" sz="3600" dirty="0">
                <a:solidFill>
                  <a:srgbClr val="212121"/>
                </a:solidFill>
                <a:effectLst/>
                <a:latin typeface="Aptos" panose="020B0004020202020204" pitchFamily="34" charset="0"/>
                <a:cs typeface="Arial" pitchFamily="34" charset="0"/>
              </a:rPr>
              <a:t>Loughran-McDonald financial lexicon</a:t>
            </a:r>
          </a:p>
          <a:p>
            <a:pPr marL="571500" indent="-571500" algn="just">
              <a:lnSpc>
                <a:spcPct val="110000"/>
              </a:lnSpc>
              <a:buFont typeface="Arial" panose="020B0604020202020204" pitchFamily="34" charset="0"/>
              <a:buChar char="•"/>
            </a:pPr>
            <a:r>
              <a:rPr lang="en-US" sz="3600" dirty="0">
                <a:solidFill>
                  <a:srgbClr val="212121"/>
                </a:solidFill>
                <a:effectLst/>
                <a:latin typeface="Aptos" panose="020B0004020202020204" pitchFamily="34" charset="0"/>
                <a:cs typeface="Arial" pitchFamily="34" charset="0"/>
              </a:rPr>
              <a:t>Stop word removal with preservation of negation</a:t>
            </a:r>
          </a:p>
          <a:p>
            <a:pPr marL="571500" indent="-571500" algn="just">
              <a:lnSpc>
                <a:spcPct val="110000"/>
              </a:lnSpc>
              <a:buFont typeface="Arial" panose="020B0604020202020204" pitchFamily="34" charset="0"/>
              <a:buChar char="•"/>
            </a:pPr>
            <a:r>
              <a:rPr lang="en-US" sz="3600" dirty="0">
                <a:effectLst/>
                <a:latin typeface="Aptos" panose="020B0004020202020204" pitchFamily="34" charset="0"/>
                <a:cs typeface="Arial" pitchFamily="34" charset="0"/>
              </a:rPr>
              <a:t>TF-IDF feature extraction</a:t>
            </a:r>
          </a:p>
        </p:txBody>
      </p:sp>
      <p:sp>
        <p:nvSpPr>
          <p:cNvPr id="12" name="TextBox 19">
            <a:extLst>
              <a:ext uri="{FF2B5EF4-FFF2-40B4-BE49-F238E27FC236}">
                <a16:creationId xmlns:a16="http://schemas.microsoft.com/office/drawing/2014/main" id="{C4012387-A37C-E469-B18E-CBC97F302DD6}"/>
              </a:ext>
            </a:extLst>
          </p:cNvPr>
          <p:cNvSpPr txBox="1">
            <a:spLocks noChangeArrowheads="1"/>
          </p:cNvSpPr>
          <p:nvPr/>
        </p:nvSpPr>
        <p:spPr bwMode="auto">
          <a:xfrm>
            <a:off x="11649909" y="23001130"/>
            <a:ext cx="9598176" cy="5796436"/>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spcBef>
                <a:spcPts val="750"/>
              </a:spcBef>
              <a:spcAft>
                <a:spcPts val="750"/>
              </a:spcAft>
              <a:buNone/>
            </a:pPr>
            <a:r>
              <a:rPr lang="en-US" sz="3600" dirty="0">
                <a:solidFill>
                  <a:srgbClr val="212121"/>
                </a:solidFill>
                <a:effectLst/>
                <a:latin typeface="Aptos" panose="020B0004020202020204" pitchFamily="34" charset="0"/>
              </a:rPr>
              <a:t>M</a:t>
            </a:r>
            <a:r>
              <a:rPr lang="en-US" sz="3600" b="0" i="0" dirty="0">
                <a:solidFill>
                  <a:srgbClr val="212121"/>
                </a:solidFill>
                <a:effectLst/>
                <a:latin typeface="Aptos" panose="020B0004020202020204" pitchFamily="34" charset="0"/>
              </a:rPr>
              <a:t>ultinomial logistic regression model with several enhancements designed specifically for financial text classification:</a:t>
            </a: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Mini-batch gradient descent</a:t>
            </a: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L2 regularization</a:t>
            </a: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Gradient clipping</a:t>
            </a:r>
          </a:p>
          <a:p>
            <a:pPr algn="l"/>
            <a:r>
              <a:rPr lang="en-US" sz="3600" b="0" i="0" dirty="0">
                <a:solidFill>
                  <a:srgbClr val="212121"/>
                </a:solidFill>
                <a:effectLst/>
                <a:latin typeface="Aptos" panose="020B0004020202020204" pitchFamily="34" charset="0"/>
              </a:rPr>
              <a:t>Loss function: Cross-entropy with L2 regularization</a:t>
            </a:r>
          </a:p>
          <a:p>
            <a:pPr>
              <a:buNone/>
            </a:pPr>
            <a:br>
              <a:rPr lang="en-US" sz="3600" dirty="0">
                <a:latin typeface="Aptos" panose="020B0004020202020204" pitchFamily="34" charset="0"/>
              </a:rPr>
            </a:br>
            <a:endParaRPr lang="en-US" sz="4000" b="0" i="0" dirty="0">
              <a:solidFill>
                <a:srgbClr val="212121"/>
              </a:solidFill>
              <a:effectLst/>
              <a:latin typeface="Aptos" panose="020B0004020202020204" pitchFamily="34" charset="0"/>
            </a:endParaRPr>
          </a:p>
        </p:txBody>
      </p:sp>
      <p:pic>
        <p:nvPicPr>
          <p:cNvPr id="15" name="Picture 14" descr="A graph showing loss of training&#10;&#10;AI-generated content may be incorrect.">
            <a:extLst>
              <a:ext uri="{FF2B5EF4-FFF2-40B4-BE49-F238E27FC236}">
                <a16:creationId xmlns:a16="http://schemas.microsoft.com/office/drawing/2014/main" id="{09FE4D66-77DF-03A6-47A7-82B8508E24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41687" y="27787277"/>
            <a:ext cx="6932282" cy="4159369"/>
          </a:xfrm>
          <a:prstGeom prst="rect">
            <a:avLst/>
          </a:prstGeom>
        </p:spPr>
      </p:pic>
      <p:sp>
        <p:nvSpPr>
          <p:cNvPr id="16" name="TextBox 19">
            <a:extLst>
              <a:ext uri="{FF2B5EF4-FFF2-40B4-BE49-F238E27FC236}">
                <a16:creationId xmlns:a16="http://schemas.microsoft.com/office/drawing/2014/main" id="{514ED828-E2FB-EE85-AE6C-7C764DEC3167}"/>
              </a:ext>
            </a:extLst>
          </p:cNvPr>
          <p:cNvSpPr txBox="1">
            <a:spLocks noChangeArrowheads="1"/>
          </p:cNvSpPr>
          <p:nvPr/>
        </p:nvSpPr>
        <p:spPr bwMode="auto">
          <a:xfrm>
            <a:off x="22546634" y="8610600"/>
            <a:ext cx="9598176" cy="1754304"/>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spcBef>
                <a:spcPts val="750"/>
              </a:spcBef>
              <a:spcAft>
                <a:spcPts val="750"/>
              </a:spcAft>
              <a:buNone/>
            </a:pPr>
            <a:r>
              <a:rPr lang="en-US" sz="3600" b="0" i="0" dirty="0">
                <a:solidFill>
                  <a:srgbClr val="212121"/>
                </a:solidFill>
                <a:effectLst/>
                <a:latin typeface="Aptos" panose="020B0004020202020204" pitchFamily="34" charset="0"/>
              </a:rPr>
              <a:t>Our custom multinomial logistic regression model achieved an overall accuracy of 65.26% on the test set.</a:t>
            </a:r>
            <a:endParaRPr lang="en-US" sz="4400" b="0" i="0" dirty="0">
              <a:solidFill>
                <a:srgbClr val="212121"/>
              </a:solidFill>
              <a:effectLst/>
              <a:latin typeface="Aptos" panose="020B0004020202020204" pitchFamily="34" charset="0"/>
            </a:endParaRPr>
          </a:p>
        </p:txBody>
      </p:sp>
      <p:graphicFrame>
        <p:nvGraphicFramePr>
          <p:cNvPr id="17" name="Table 16">
            <a:extLst>
              <a:ext uri="{FF2B5EF4-FFF2-40B4-BE49-F238E27FC236}">
                <a16:creationId xmlns:a16="http://schemas.microsoft.com/office/drawing/2014/main" id="{1CD7657D-B77A-FB4B-7167-6C2242C02054}"/>
              </a:ext>
            </a:extLst>
          </p:cNvPr>
          <p:cNvGraphicFramePr>
            <a:graphicFrameLocks noGrp="1"/>
          </p:cNvGraphicFramePr>
          <p:nvPr>
            <p:extLst>
              <p:ext uri="{D42A27DB-BD31-4B8C-83A1-F6EECF244321}">
                <p14:modId xmlns:p14="http://schemas.microsoft.com/office/powerpoint/2010/main" val="2232519153"/>
              </p:ext>
            </p:extLst>
          </p:nvPr>
        </p:nvGraphicFramePr>
        <p:xfrm>
          <a:off x="23234299" y="10433118"/>
          <a:ext cx="8222845" cy="6663690"/>
        </p:xfrm>
        <a:graphic>
          <a:graphicData uri="http://schemas.openxmlformats.org/drawingml/2006/table">
            <a:tbl>
              <a:tblPr/>
              <a:tblGrid>
                <a:gridCol w="1644569">
                  <a:extLst>
                    <a:ext uri="{9D8B030D-6E8A-4147-A177-3AD203B41FA5}">
                      <a16:colId xmlns:a16="http://schemas.microsoft.com/office/drawing/2014/main" val="1679208170"/>
                    </a:ext>
                  </a:extLst>
                </a:gridCol>
                <a:gridCol w="1644569">
                  <a:extLst>
                    <a:ext uri="{9D8B030D-6E8A-4147-A177-3AD203B41FA5}">
                      <a16:colId xmlns:a16="http://schemas.microsoft.com/office/drawing/2014/main" val="2093516421"/>
                    </a:ext>
                  </a:extLst>
                </a:gridCol>
                <a:gridCol w="1644569">
                  <a:extLst>
                    <a:ext uri="{9D8B030D-6E8A-4147-A177-3AD203B41FA5}">
                      <a16:colId xmlns:a16="http://schemas.microsoft.com/office/drawing/2014/main" val="4182873055"/>
                    </a:ext>
                  </a:extLst>
                </a:gridCol>
                <a:gridCol w="1644569">
                  <a:extLst>
                    <a:ext uri="{9D8B030D-6E8A-4147-A177-3AD203B41FA5}">
                      <a16:colId xmlns:a16="http://schemas.microsoft.com/office/drawing/2014/main" val="4126040037"/>
                    </a:ext>
                  </a:extLst>
                </a:gridCol>
                <a:gridCol w="1644569">
                  <a:extLst>
                    <a:ext uri="{9D8B030D-6E8A-4147-A177-3AD203B41FA5}">
                      <a16:colId xmlns:a16="http://schemas.microsoft.com/office/drawing/2014/main" val="2606968363"/>
                    </a:ext>
                  </a:extLst>
                </a:gridCol>
              </a:tblGrid>
              <a:tr h="1229610">
                <a:tc>
                  <a:txBody>
                    <a:bodyPr/>
                    <a:lstStyle/>
                    <a:p>
                      <a:pPr algn="ctr"/>
                      <a:r>
                        <a:rPr lang="en-US">
                          <a:solidFill>
                            <a:srgbClr val="0D47A1"/>
                          </a:solidFill>
                          <a:effectLst/>
                        </a:rPr>
                        <a:t>Class</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BBDEFB"/>
                    </a:solidFill>
                  </a:tcPr>
                </a:tc>
                <a:tc>
                  <a:txBody>
                    <a:bodyPr/>
                    <a:lstStyle/>
                    <a:p>
                      <a:pPr algn="ctr"/>
                      <a:r>
                        <a:rPr lang="en-US">
                          <a:solidFill>
                            <a:srgbClr val="0D47A1"/>
                          </a:solidFill>
                          <a:effectLst/>
                        </a:rPr>
                        <a:t>Precision</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BBDEFB"/>
                    </a:solidFill>
                  </a:tcPr>
                </a:tc>
                <a:tc>
                  <a:txBody>
                    <a:bodyPr/>
                    <a:lstStyle/>
                    <a:p>
                      <a:pPr algn="ctr"/>
                      <a:r>
                        <a:rPr lang="en-US">
                          <a:solidFill>
                            <a:srgbClr val="0D47A1"/>
                          </a:solidFill>
                          <a:effectLst/>
                        </a:rPr>
                        <a:t>Recall</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BBDEFB"/>
                    </a:solidFill>
                  </a:tcPr>
                </a:tc>
                <a:tc>
                  <a:txBody>
                    <a:bodyPr/>
                    <a:lstStyle/>
                    <a:p>
                      <a:pPr algn="ctr"/>
                      <a:r>
                        <a:rPr lang="en-US">
                          <a:solidFill>
                            <a:srgbClr val="0D47A1"/>
                          </a:solidFill>
                          <a:effectLst/>
                        </a:rPr>
                        <a:t>F1-score</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BBDEFB"/>
                    </a:solidFill>
                  </a:tcPr>
                </a:tc>
                <a:tc>
                  <a:txBody>
                    <a:bodyPr/>
                    <a:lstStyle/>
                    <a:p>
                      <a:pPr algn="ctr"/>
                      <a:r>
                        <a:rPr lang="en-US">
                          <a:solidFill>
                            <a:srgbClr val="0D47A1"/>
                          </a:solidFill>
                          <a:effectLst/>
                        </a:rPr>
                        <a:t>Support</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BBDEFB"/>
                    </a:solidFill>
                  </a:tcPr>
                </a:tc>
                <a:extLst>
                  <a:ext uri="{0D108BD9-81ED-4DB2-BD59-A6C34878D82A}">
                    <a16:rowId xmlns:a16="http://schemas.microsoft.com/office/drawing/2014/main" val="1670942633"/>
                  </a:ext>
                </a:extLst>
              </a:tr>
              <a:tr h="872626">
                <a:tc>
                  <a:txBody>
                    <a:bodyPr/>
                    <a:lstStyle/>
                    <a:p>
                      <a:pPr algn="ctr"/>
                      <a:r>
                        <a:rPr lang="en-US">
                          <a:effectLst/>
                        </a:rPr>
                        <a:t>Negative</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0.45</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0.62</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0.52</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121</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183160287"/>
                  </a:ext>
                </a:extLst>
              </a:tr>
              <a:tr h="872626">
                <a:tc>
                  <a:txBody>
                    <a:bodyPr/>
                    <a:lstStyle/>
                    <a:p>
                      <a:pPr algn="ctr"/>
                      <a:r>
                        <a:rPr lang="en-US">
                          <a:effectLst/>
                        </a:rPr>
                        <a:t>Neutral</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0.76</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0.74</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0.75</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576</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2467525046"/>
                  </a:ext>
                </a:extLst>
              </a:tr>
              <a:tr h="872626">
                <a:tc>
                  <a:txBody>
                    <a:bodyPr/>
                    <a:lstStyle/>
                    <a:p>
                      <a:pPr algn="ctr"/>
                      <a:r>
                        <a:rPr lang="en-US">
                          <a:effectLst/>
                        </a:rPr>
                        <a:t>Positive</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0.55</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0.48</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0.51</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273</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3907833783"/>
                  </a:ext>
                </a:extLst>
              </a:tr>
              <a:tr h="1229610">
                <a:tc>
                  <a:txBody>
                    <a:bodyPr/>
                    <a:lstStyle/>
                    <a:p>
                      <a:pPr algn="ctr"/>
                      <a:r>
                        <a:rPr lang="en-US">
                          <a:effectLst/>
                        </a:rPr>
                        <a:t>Macro avg</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0.59</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0.61</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0.59</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algn="ctr"/>
                      <a:r>
                        <a:rPr lang="en-US">
                          <a:effectLst/>
                        </a:rPr>
                        <a:t>970</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585688028"/>
                  </a:ext>
                </a:extLst>
              </a:tr>
              <a:tr h="1586592">
                <a:tc>
                  <a:txBody>
                    <a:bodyPr/>
                    <a:lstStyle/>
                    <a:p>
                      <a:pPr algn="ctr"/>
                      <a:r>
                        <a:rPr lang="en-US">
                          <a:effectLst/>
                        </a:rPr>
                        <a:t>Weighted avg</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0.66</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0.65</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a:effectLst/>
                        </a:rPr>
                        <a:t>0.65</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tc>
                  <a:txBody>
                    <a:bodyPr/>
                    <a:lstStyle/>
                    <a:p>
                      <a:pPr algn="ctr"/>
                      <a:r>
                        <a:rPr lang="en-US" dirty="0">
                          <a:effectLst/>
                        </a:rPr>
                        <a:t>970</a:t>
                      </a:r>
                    </a:p>
                  </a:txBody>
                  <a:tcPr marL="60960" marR="60960" marT="60960" marB="6096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981191688"/>
                  </a:ext>
                </a:extLst>
              </a:tr>
            </a:tbl>
          </a:graphicData>
        </a:graphic>
      </p:graphicFrame>
      <p:sp>
        <p:nvSpPr>
          <p:cNvPr id="18" name="TextBox 19">
            <a:extLst>
              <a:ext uri="{FF2B5EF4-FFF2-40B4-BE49-F238E27FC236}">
                <a16:creationId xmlns:a16="http://schemas.microsoft.com/office/drawing/2014/main" id="{C68E9AF9-BC0E-5C14-B16E-3ABEB4339E2D}"/>
              </a:ext>
            </a:extLst>
          </p:cNvPr>
          <p:cNvSpPr txBox="1">
            <a:spLocks noChangeArrowheads="1"/>
          </p:cNvSpPr>
          <p:nvPr/>
        </p:nvSpPr>
        <p:spPr bwMode="auto">
          <a:xfrm>
            <a:off x="22546634" y="17377647"/>
            <a:ext cx="9598176" cy="1200306"/>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spcBef>
                <a:spcPts val="750"/>
              </a:spcBef>
              <a:spcAft>
                <a:spcPts val="750"/>
              </a:spcAft>
              <a:buNone/>
            </a:pPr>
            <a:r>
              <a:rPr lang="en-US" sz="3600" b="0" i="0" dirty="0">
                <a:solidFill>
                  <a:srgbClr val="212121"/>
                </a:solidFill>
                <a:effectLst/>
                <a:latin typeface="Aptos" panose="020B0004020202020204" pitchFamily="34" charset="0"/>
              </a:rPr>
              <a:t>The model performed best on the neutral class (F1=0.75), reflecting the class imbalance.</a:t>
            </a:r>
            <a:endParaRPr lang="en-US" sz="4800" b="0" i="0" dirty="0">
              <a:solidFill>
                <a:srgbClr val="212121"/>
              </a:solidFill>
              <a:effectLst/>
              <a:latin typeface="Aptos" panose="020B0004020202020204" pitchFamily="34" charset="0"/>
            </a:endParaRPr>
          </a:p>
        </p:txBody>
      </p:sp>
      <p:sp>
        <p:nvSpPr>
          <p:cNvPr id="19" name="TextBox 19">
            <a:extLst>
              <a:ext uri="{FF2B5EF4-FFF2-40B4-BE49-F238E27FC236}">
                <a16:creationId xmlns:a16="http://schemas.microsoft.com/office/drawing/2014/main" id="{B935853A-66D9-A587-8AED-5412C06D4A61}"/>
              </a:ext>
            </a:extLst>
          </p:cNvPr>
          <p:cNvSpPr txBox="1">
            <a:spLocks noChangeArrowheads="1"/>
          </p:cNvSpPr>
          <p:nvPr/>
        </p:nvSpPr>
        <p:spPr bwMode="auto">
          <a:xfrm>
            <a:off x="22582584" y="20883719"/>
            <a:ext cx="9598176" cy="10064271"/>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Domain-specific feature engineering significantly improves performance for financial texts</a:t>
            </a:r>
          </a:p>
          <a:p>
            <a:pPr algn="l"/>
            <a:endParaRPr lang="en-US" sz="3600" b="0" i="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Financial sentiment classification benefits from less regularization</a:t>
            </a:r>
          </a:p>
          <a:p>
            <a:pPr algn="l"/>
            <a:endParaRPr lang="en-US" sz="3600" b="0" i="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Gradient clipping is crucial for handling the extreme gradients that occur with sparse financial text features</a:t>
            </a:r>
          </a:p>
          <a:p>
            <a:pPr algn="l"/>
            <a:endParaRPr lang="en-US" sz="3600" b="0" i="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Class imbalance remains a significant challenge, particularly for negative sentiment detection</a:t>
            </a:r>
          </a:p>
          <a:p>
            <a:pPr algn="l"/>
            <a:endParaRPr lang="en-US" sz="3600" b="0" i="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b="0" i="0" dirty="0">
                <a:solidFill>
                  <a:srgbClr val="212121"/>
                </a:solidFill>
                <a:effectLst/>
                <a:latin typeface="Aptos" panose="020B0004020202020204" pitchFamily="34" charset="0"/>
              </a:rPr>
              <a:t>Lexicon-based features ("HAS_POSITIVE", "HAS_NEGATIVE") were among the top 10 most influential features</a:t>
            </a:r>
          </a:p>
        </p:txBody>
      </p:sp>
      <p:sp>
        <p:nvSpPr>
          <p:cNvPr id="20" name="Rectangle 10">
            <a:extLst>
              <a:ext uri="{FF2B5EF4-FFF2-40B4-BE49-F238E27FC236}">
                <a16:creationId xmlns:a16="http://schemas.microsoft.com/office/drawing/2014/main" id="{8642D788-D31C-0257-2BE4-15D74FA83A2C}"/>
              </a:ext>
            </a:extLst>
          </p:cNvPr>
          <p:cNvSpPr>
            <a:spLocks noChangeArrowheads="1"/>
          </p:cNvSpPr>
          <p:nvPr/>
        </p:nvSpPr>
        <p:spPr bwMode="auto">
          <a:xfrm>
            <a:off x="22352472" y="19510851"/>
            <a:ext cx="10058400" cy="873301"/>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Key Findings</a:t>
            </a:r>
          </a:p>
        </p:txBody>
      </p:sp>
      <p:sp>
        <p:nvSpPr>
          <p:cNvPr id="23" name="TextBox 19">
            <a:extLst>
              <a:ext uri="{FF2B5EF4-FFF2-40B4-BE49-F238E27FC236}">
                <a16:creationId xmlns:a16="http://schemas.microsoft.com/office/drawing/2014/main" id="{2C6DFC1D-9502-438C-021D-12BB66A44DAB}"/>
              </a:ext>
            </a:extLst>
          </p:cNvPr>
          <p:cNvSpPr txBox="1">
            <a:spLocks noChangeArrowheads="1"/>
          </p:cNvSpPr>
          <p:nvPr/>
        </p:nvSpPr>
        <p:spPr bwMode="auto">
          <a:xfrm>
            <a:off x="33427011" y="8617973"/>
            <a:ext cx="9598176" cy="646309"/>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l"/>
            <a:r>
              <a:rPr lang="en-US" sz="3600" b="0" i="0" dirty="0">
                <a:solidFill>
                  <a:srgbClr val="212121"/>
                </a:solidFill>
                <a:effectLst/>
                <a:latin typeface="Aptos" panose="020B0004020202020204" pitchFamily="34" charset="0"/>
              </a:rPr>
              <a:t>End-to-end sentiment analysis pipeline:</a:t>
            </a:r>
          </a:p>
        </p:txBody>
      </p:sp>
      <p:pic>
        <p:nvPicPr>
          <p:cNvPr id="25" name="Picture 24">
            <a:extLst>
              <a:ext uri="{FF2B5EF4-FFF2-40B4-BE49-F238E27FC236}">
                <a16:creationId xmlns:a16="http://schemas.microsoft.com/office/drawing/2014/main" id="{D9A2F0A4-731D-253E-7481-B980B23E9E61}"/>
              </a:ext>
            </a:extLst>
          </p:cNvPr>
          <p:cNvPicPr>
            <a:picLocks noChangeAspect="1"/>
          </p:cNvPicPr>
          <p:nvPr/>
        </p:nvPicPr>
        <p:blipFill>
          <a:blip r:embed="rId9"/>
          <a:stretch>
            <a:fillRect/>
          </a:stretch>
        </p:blipFill>
        <p:spPr>
          <a:xfrm>
            <a:off x="33427011" y="9544407"/>
            <a:ext cx="4881375" cy="8662220"/>
          </a:xfrm>
          <a:prstGeom prst="rect">
            <a:avLst/>
          </a:prstGeom>
        </p:spPr>
      </p:pic>
      <p:sp>
        <p:nvSpPr>
          <p:cNvPr id="26" name="TextBox 19">
            <a:extLst>
              <a:ext uri="{FF2B5EF4-FFF2-40B4-BE49-F238E27FC236}">
                <a16:creationId xmlns:a16="http://schemas.microsoft.com/office/drawing/2014/main" id="{5F71C034-461B-68A3-2E4A-76E8CE5652F7}"/>
              </a:ext>
            </a:extLst>
          </p:cNvPr>
          <p:cNvSpPr txBox="1">
            <a:spLocks noChangeArrowheads="1"/>
          </p:cNvSpPr>
          <p:nvPr/>
        </p:nvSpPr>
        <p:spPr bwMode="auto">
          <a:xfrm>
            <a:off x="38233473" y="9706106"/>
            <a:ext cx="4506194" cy="8402278"/>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l"/>
            <a:r>
              <a:rPr lang="en-US" sz="3600" b="0" i="0" dirty="0">
                <a:solidFill>
                  <a:srgbClr val="212121"/>
                </a:solidFill>
                <a:effectLst/>
                <a:latin typeface="Aptos" panose="020B0004020202020204" pitchFamily="34" charset="0"/>
              </a:rPr>
              <a:t>Future directions:</a:t>
            </a:r>
          </a:p>
          <a:p>
            <a:pPr algn="l"/>
            <a:endParaRPr lang="en-US" sz="360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dirty="0">
                <a:solidFill>
                  <a:srgbClr val="212121"/>
                </a:solidFill>
                <a:effectLst/>
                <a:latin typeface="Aptos" panose="020B0004020202020204" pitchFamily="34" charset="0"/>
              </a:rPr>
              <a:t>Temporal analysis to track changes.</a:t>
            </a:r>
          </a:p>
          <a:p>
            <a:pPr marL="571500" indent="-571500" algn="l">
              <a:buFont typeface="Arial" panose="020B0604020202020204" pitchFamily="34" charset="0"/>
              <a:buChar char="•"/>
            </a:pPr>
            <a:endParaRPr lang="en-US" sz="360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dirty="0">
                <a:solidFill>
                  <a:srgbClr val="212121"/>
                </a:solidFill>
                <a:effectLst/>
                <a:latin typeface="Aptos" panose="020B0004020202020204" pitchFamily="34" charset="0"/>
              </a:rPr>
              <a:t>Semi-supervised learning to leverage unlabeled financial texts</a:t>
            </a:r>
          </a:p>
          <a:p>
            <a:pPr marL="571500" indent="-571500" algn="l">
              <a:buFont typeface="Arial" panose="020B0604020202020204" pitchFamily="34" charset="0"/>
              <a:buChar char="•"/>
            </a:pPr>
            <a:endParaRPr lang="en-US" sz="360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dirty="0">
                <a:solidFill>
                  <a:srgbClr val="212121"/>
                </a:solidFill>
                <a:effectLst/>
                <a:latin typeface="Aptos" panose="020B0004020202020204" pitchFamily="34" charset="0"/>
              </a:rPr>
              <a:t>Utilize better performing models for production</a:t>
            </a:r>
          </a:p>
          <a:p>
            <a:pPr marL="571500" indent="-571500" algn="l">
              <a:buFont typeface="Arial" panose="020B0604020202020204" pitchFamily="34" charset="0"/>
              <a:buChar char="•"/>
            </a:pPr>
            <a:endParaRPr lang="en-US" sz="3600" dirty="0">
              <a:solidFill>
                <a:srgbClr val="212121"/>
              </a:solidFill>
              <a:effectLst/>
              <a:latin typeface="Aptos" panose="020B0004020202020204" pitchFamily="34" charset="0"/>
            </a:endParaRPr>
          </a:p>
          <a:p>
            <a:pPr marL="571500" indent="-571500" algn="l">
              <a:buFont typeface="Arial" panose="020B0604020202020204" pitchFamily="34" charset="0"/>
              <a:buChar char="•"/>
            </a:pPr>
            <a:r>
              <a:rPr lang="en-US" sz="3600" dirty="0">
                <a:solidFill>
                  <a:srgbClr val="212121"/>
                </a:solidFill>
                <a:effectLst/>
                <a:latin typeface="Aptos" panose="020B0004020202020204" pitchFamily="34" charset="0"/>
              </a:rPr>
              <a:t>Better JSON parser</a:t>
            </a:r>
          </a:p>
        </p:txBody>
      </p:sp>
      <p:sp>
        <p:nvSpPr>
          <p:cNvPr id="27" name="TextBox 19">
            <a:extLst>
              <a:ext uri="{FF2B5EF4-FFF2-40B4-BE49-F238E27FC236}">
                <a16:creationId xmlns:a16="http://schemas.microsoft.com/office/drawing/2014/main" id="{F71C3850-43C1-1034-1A16-FBCB99AEA30A}"/>
              </a:ext>
            </a:extLst>
          </p:cNvPr>
          <p:cNvSpPr txBox="1">
            <a:spLocks noChangeArrowheads="1"/>
          </p:cNvSpPr>
          <p:nvPr/>
        </p:nvSpPr>
        <p:spPr bwMode="auto">
          <a:xfrm>
            <a:off x="33509298" y="18682383"/>
            <a:ext cx="9598176" cy="7294282"/>
          </a:xfrm>
          <a:prstGeom prst="rect">
            <a:avLst/>
          </a:prstGeom>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l"/>
            <a:r>
              <a:rPr lang="en-US" sz="3600" b="0" i="0" dirty="0">
                <a:solidFill>
                  <a:srgbClr val="212121"/>
                </a:solidFill>
                <a:effectLst/>
                <a:latin typeface="Aptos" panose="020B0004020202020204" pitchFamily="34" charset="0"/>
              </a:rPr>
              <a:t>This project demonstrated the effectiveness of a multinomial logistic regression model for financial sentiment analysis.</a:t>
            </a:r>
          </a:p>
          <a:p>
            <a:pPr algn="l"/>
            <a:endParaRPr lang="en-US" sz="3600" dirty="0">
              <a:solidFill>
                <a:srgbClr val="212121"/>
              </a:solidFill>
              <a:effectLst/>
              <a:latin typeface="Aptos" panose="020B0004020202020204" pitchFamily="34" charset="0"/>
            </a:endParaRPr>
          </a:p>
          <a:p>
            <a:pPr algn="l"/>
            <a:r>
              <a:rPr lang="en-US" sz="3600" b="0" i="0" dirty="0">
                <a:solidFill>
                  <a:srgbClr val="212121"/>
                </a:solidFill>
                <a:effectLst/>
                <a:latin typeface="Aptos" panose="020B0004020202020204" pitchFamily="34" charset="0"/>
              </a:rPr>
              <a:t>By integrating domain-specific knowledge through the Loughran-McDonald lexicon and implementing several model enhancements, we achieved competitive performance while maintaining computational efficiency.</a:t>
            </a:r>
          </a:p>
          <a:p>
            <a:pPr algn="l"/>
            <a:endParaRPr lang="en-US" sz="3600" dirty="0">
              <a:solidFill>
                <a:srgbClr val="212121"/>
              </a:solidFill>
              <a:effectLst/>
              <a:latin typeface="Aptos" panose="020B0004020202020204" pitchFamily="34" charset="0"/>
            </a:endParaRPr>
          </a:p>
          <a:p>
            <a:pPr algn="l"/>
            <a:r>
              <a:rPr lang="en-US" sz="3600" b="0" i="0" dirty="0">
                <a:solidFill>
                  <a:srgbClr val="212121"/>
                </a:solidFill>
                <a:effectLst/>
                <a:latin typeface="Aptos" panose="020B0004020202020204" pitchFamily="34" charset="0"/>
              </a:rPr>
              <a:t>This task remains a challenging but valuable application of NLP, with potential impact </a:t>
            </a:r>
            <a:r>
              <a:rPr lang="en-US" sz="3600" dirty="0">
                <a:solidFill>
                  <a:srgbClr val="212121"/>
                </a:solidFill>
                <a:effectLst/>
                <a:latin typeface="Aptos" panose="020B0004020202020204" pitchFamily="34" charset="0"/>
              </a:rPr>
              <a:t>on investment decisions, and market analysis.</a:t>
            </a:r>
            <a:endParaRPr lang="en-US" sz="4000" b="0" i="0" dirty="0">
              <a:solidFill>
                <a:srgbClr val="212121"/>
              </a:solidFill>
              <a:effectLst/>
              <a:latin typeface="Aptos" panose="020B0004020202020204"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onderingpeacock|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1748</TotalTime>
  <Words>630</Words>
  <Application>Microsoft Office PowerPoint</Application>
  <PresentationFormat>Custom</PresentationFormat>
  <Paragraphs>89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Quattrocento</vt:lpstr>
      <vt:lpstr>Arial</vt:lpstr>
      <vt:lpstr>Times New Roman</vt:lpstr>
      <vt:lpstr>Aptos</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Nguyen, Nathan</cp:lastModifiedBy>
  <cp:revision>109</cp:revision>
  <cp:lastPrinted>2000-08-03T00:31:24Z</cp:lastPrinted>
  <dcterms:modified xsi:type="dcterms:W3CDTF">2025-05-05T21:50:28Z</dcterms:modified>
  <cp:category>research posters template</cp:category>
</cp:coreProperties>
</file>